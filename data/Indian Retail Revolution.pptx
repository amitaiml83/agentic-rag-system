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5" r:id="rId1"/>
  </p:sldMasterIdLst>
  <p:sldIdLst>
    <p:sldId id="256" r:id="rId2"/>
    <p:sldId id="257" r:id="rId3"/>
    <p:sldId id="264" r:id="rId4"/>
    <p:sldId id="261" r:id="rId5"/>
    <p:sldId id="266" r:id="rId6"/>
    <p:sldId id="265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204" autoAdjust="0"/>
    <p:restoredTop sz="94660"/>
  </p:normalViewPr>
  <p:slideViewPr>
    <p:cSldViewPr snapToGrid="0">
      <p:cViewPr varScale="1">
        <p:scale>
          <a:sx n="78" d="100"/>
          <a:sy n="78" d="100"/>
        </p:scale>
        <p:origin x="869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svg"/><Relationship Id="rId3" Type="http://schemas.openxmlformats.org/officeDocument/2006/relationships/image" Target="../media/image26.png"/><Relationship Id="rId7" Type="http://schemas.openxmlformats.org/officeDocument/2006/relationships/image" Target="../media/image30.png"/><Relationship Id="rId2" Type="http://schemas.openxmlformats.org/officeDocument/2006/relationships/image" Target="../media/image25.svg"/><Relationship Id="rId1" Type="http://schemas.openxmlformats.org/officeDocument/2006/relationships/image" Target="../media/image24.png"/><Relationship Id="rId6" Type="http://schemas.openxmlformats.org/officeDocument/2006/relationships/image" Target="../media/image29.svg"/><Relationship Id="rId5" Type="http://schemas.openxmlformats.org/officeDocument/2006/relationships/image" Target="../media/image28.png"/><Relationship Id="rId4" Type="http://schemas.openxmlformats.org/officeDocument/2006/relationships/image" Target="../media/image27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svg"/><Relationship Id="rId3" Type="http://schemas.openxmlformats.org/officeDocument/2006/relationships/image" Target="../media/image26.png"/><Relationship Id="rId7" Type="http://schemas.openxmlformats.org/officeDocument/2006/relationships/image" Target="../media/image30.png"/><Relationship Id="rId2" Type="http://schemas.openxmlformats.org/officeDocument/2006/relationships/image" Target="../media/image25.svg"/><Relationship Id="rId1" Type="http://schemas.openxmlformats.org/officeDocument/2006/relationships/image" Target="../media/image24.png"/><Relationship Id="rId6" Type="http://schemas.openxmlformats.org/officeDocument/2006/relationships/image" Target="../media/image29.svg"/><Relationship Id="rId5" Type="http://schemas.openxmlformats.org/officeDocument/2006/relationships/image" Target="../media/image28.png"/><Relationship Id="rId4" Type="http://schemas.openxmlformats.org/officeDocument/2006/relationships/image" Target="../media/image27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33F31D0-F661-4883-AC3C-BE0B4BA6EED1}" type="doc">
      <dgm:prSet loTypeId="urn:microsoft.com/office/officeart/2018/5/layout/CenteredIconLabelDescription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B4EBE98-6166-4FB5-B0C2-262133236D14}">
      <dgm:prSet custT="1"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IN" sz="1800" b="1" i="0" dirty="0"/>
            <a:t>Traditional Retail </a:t>
          </a:r>
        </a:p>
        <a:p>
          <a:pPr>
            <a:lnSpc>
              <a:spcPct val="100000"/>
            </a:lnSpc>
            <a:defRPr b="1"/>
          </a:pPr>
          <a:r>
            <a:rPr lang="en-IN" sz="1800" b="1" i="0" dirty="0"/>
            <a:t>(Pre-1990s)</a:t>
          </a:r>
          <a:r>
            <a:rPr lang="en-IN" sz="1800" b="0" i="0" dirty="0"/>
            <a:t> </a:t>
          </a:r>
          <a:endParaRPr lang="en-US" sz="1800" dirty="0"/>
        </a:p>
      </dgm:t>
    </dgm:pt>
    <dgm:pt modelId="{E1A1A26C-DA9A-49EC-AD91-3EFB06C89F44}" type="parTrans" cxnId="{04DA6D0B-C120-45F9-ACD2-55DB21137A35}">
      <dgm:prSet/>
      <dgm:spPr/>
      <dgm:t>
        <a:bodyPr/>
        <a:lstStyle/>
        <a:p>
          <a:endParaRPr lang="en-US"/>
        </a:p>
      </dgm:t>
    </dgm:pt>
    <dgm:pt modelId="{4C06E08D-A990-43E0-80CD-6D91A0075CC7}" type="sibTrans" cxnId="{04DA6D0B-C120-45F9-ACD2-55DB21137A35}">
      <dgm:prSet/>
      <dgm:spPr/>
      <dgm:t>
        <a:bodyPr/>
        <a:lstStyle/>
        <a:p>
          <a:endParaRPr lang="en-US"/>
        </a:p>
      </dgm:t>
    </dgm:pt>
    <dgm:pt modelId="{400ED00D-49FC-4371-BF78-2AFFAF2DB723}">
      <dgm:prSet/>
      <dgm:spPr/>
      <dgm:t>
        <a:bodyPr/>
        <a:lstStyle/>
        <a:p>
          <a:pPr>
            <a:lnSpc>
              <a:spcPct val="100000"/>
            </a:lnSpc>
          </a:pPr>
          <a:r>
            <a:rPr lang="en-IN" b="0" i="0" dirty="0"/>
            <a:t>Mom-and </a:t>
          </a:r>
          <a:r>
            <a:rPr lang="en-IN" dirty="0"/>
            <a:t>pops store, street market, local bazar</a:t>
          </a:r>
          <a:endParaRPr lang="en-US" dirty="0"/>
        </a:p>
      </dgm:t>
    </dgm:pt>
    <dgm:pt modelId="{D73A61FA-536B-4A97-A424-68D066D30B71}" type="parTrans" cxnId="{B6066E38-2F5B-4F81-B337-EBEA1841C044}">
      <dgm:prSet/>
      <dgm:spPr/>
      <dgm:t>
        <a:bodyPr/>
        <a:lstStyle/>
        <a:p>
          <a:endParaRPr lang="en-US"/>
        </a:p>
      </dgm:t>
    </dgm:pt>
    <dgm:pt modelId="{5B780DED-23A9-412A-8BAF-16BF5B353EEE}" type="sibTrans" cxnId="{B6066E38-2F5B-4F81-B337-EBEA1841C044}">
      <dgm:prSet/>
      <dgm:spPr/>
      <dgm:t>
        <a:bodyPr/>
        <a:lstStyle/>
        <a:p>
          <a:endParaRPr lang="en-US"/>
        </a:p>
      </dgm:t>
    </dgm:pt>
    <dgm:pt modelId="{ABE44B26-2967-4C38-A867-22C53232B563}">
      <dgm:prSet custT="1"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IN" sz="1600" b="1" i="0" dirty="0"/>
            <a:t>Modern Retail Formats</a:t>
          </a:r>
        </a:p>
        <a:p>
          <a:pPr>
            <a:lnSpc>
              <a:spcPct val="100000"/>
            </a:lnSpc>
            <a:defRPr b="1"/>
          </a:pPr>
          <a:r>
            <a:rPr lang="en-IN" sz="1600" b="1" i="0" dirty="0"/>
            <a:t> (1990s-2010s)</a:t>
          </a:r>
          <a:endParaRPr lang="en-US" sz="1600" dirty="0"/>
        </a:p>
      </dgm:t>
    </dgm:pt>
    <dgm:pt modelId="{24C772A2-BEA3-4B28-9232-444786AB1D4E}" type="parTrans" cxnId="{5022BFE5-C5EB-4610-8F4A-A4BA1BB40E78}">
      <dgm:prSet/>
      <dgm:spPr/>
      <dgm:t>
        <a:bodyPr/>
        <a:lstStyle/>
        <a:p>
          <a:endParaRPr lang="en-US"/>
        </a:p>
      </dgm:t>
    </dgm:pt>
    <dgm:pt modelId="{BD251C1A-250C-431C-95C4-CF4618F10F77}" type="sibTrans" cxnId="{5022BFE5-C5EB-4610-8F4A-A4BA1BB40E78}">
      <dgm:prSet/>
      <dgm:spPr/>
      <dgm:t>
        <a:bodyPr/>
        <a:lstStyle/>
        <a:p>
          <a:endParaRPr lang="en-US"/>
        </a:p>
      </dgm:t>
    </dgm:pt>
    <dgm:pt modelId="{DBE41B50-021B-42F4-A007-11BF7C299AF7}">
      <dgm:prSet/>
      <dgm:spPr/>
      <dgm:t>
        <a:bodyPr/>
        <a:lstStyle/>
        <a:p>
          <a:pPr>
            <a:lnSpc>
              <a:spcPct val="100000"/>
            </a:lnSpc>
          </a:pPr>
          <a:r>
            <a:rPr lang="en-IN" dirty="0"/>
            <a:t>Big Bazar, Reliance  Retails ,</a:t>
          </a:r>
          <a:r>
            <a:rPr lang="en-IN" i="0" dirty="0"/>
            <a:t> Omnichannel retailing, Membership-based retailers</a:t>
          </a:r>
          <a:r>
            <a:rPr lang="en-IN" b="0" i="0" dirty="0"/>
            <a:t> </a:t>
          </a:r>
          <a:endParaRPr lang="en-US" dirty="0"/>
        </a:p>
      </dgm:t>
    </dgm:pt>
    <dgm:pt modelId="{5FBDE9E1-BB92-4A24-B1C6-04F3747E24C6}" type="parTrans" cxnId="{705D00A8-0EDE-41BD-A755-F414E5134E09}">
      <dgm:prSet/>
      <dgm:spPr/>
      <dgm:t>
        <a:bodyPr/>
        <a:lstStyle/>
        <a:p>
          <a:endParaRPr lang="en-US"/>
        </a:p>
      </dgm:t>
    </dgm:pt>
    <dgm:pt modelId="{05354CC5-7C01-4104-8732-643FF03119CF}" type="sibTrans" cxnId="{705D00A8-0EDE-41BD-A755-F414E5134E09}">
      <dgm:prSet/>
      <dgm:spPr/>
      <dgm:t>
        <a:bodyPr/>
        <a:lstStyle/>
        <a:p>
          <a:endParaRPr lang="en-US"/>
        </a:p>
      </dgm:t>
    </dgm:pt>
    <dgm:pt modelId="{7F179063-093A-4CFB-BE81-775CA331BC7D}">
      <dgm:prSet custT="1"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IN" sz="1600" b="1" i="0" dirty="0"/>
            <a:t>E-commerce Boom </a:t>
          </a:r>
        </a:p>
        <a:p>
          <a:pPr>
            <a:lnSpc>
              <a:spcPct val="100000"/>
            </a:lnSpc>
            <a:defRPr b="1"/>
          </a:pPr>
          <a:r>
            <a:rPr lang="en-IN" sz="1600" b="1" i="0" dirty="0"/>
            <a:t>(2010s-)</a:t>
          </a:r>
          <a:endParaRPr lang="en-US" sz="1600" dirty="0"/>
        </a:p>
      </dgm:t>
    </dgm:pt>
    <dgm:pt modelId="{14465144-0A5F-4748-A6CC-D081738E8F77}" type="parTrans" cxnId="{719201A8-5C36-4BE2-94C9-A28CC9DC15D5}">
      <dgm:prSet/>
      <dgm:spPr/>
      <dgm:t>
        <a:bodyPr/>
        <a:lstStyle/>
        <a:p>
          <a:endParaRPr lang="en-US"/>
        </a:p>
      </dgm:t>
    </dgm:pt>
    <dgm:pt modelId="{A66C593E-AB44-4060-BBBE-5EF93D2DBA8A}" type="sibTrans" cxnId="{719201A8-5C36-4BE2-94C9-A28CC9DC15D5}">
      <dgm:prSet/>
      <dgm:spPr/>
      <dgm:t>
        <a:bodyPr/>
        <a:lstStyle/>
        <a:p>
          <a:endParaRPr lang="en-US"/>
        </a:p>
      </dgm:t>
    </dgm:pt>
    <dgm:pt modelId="{D3EF8491-A0A6-46DF-9983-C39271763698}">
      <dgm:prSet/>
      <dgm:spPr/>
      <dgm:t>
        <a:bodyPr/>
        <a:lstStyle/>
        <a:p>
          <a:pPr>
            <a:lnSpc>
              <a:spcPct val="100000"/>
            </a:lnSpc>
          </a:pPr>
          <a:r>
            <a:rPr lang="en-IN" b="0" i="0" dirty="0"/>
            <a:t>Flipkart, Amazon</a:t>
          </a:r>
          <a:r>
            <a:rPr lang="en-IN" dirty="0"/>
            <a:t>,</a:t>
          </a:r>
          <a:r>
            <a:rPr lang="en-IN" b="0" i="0" dirty="0"/>
            <a:t> Paytm Mall</a:t>
          </a:r>
          <a:r>
            <a:rPr lang="en-IN" dirty="0"/>
            <a:t>,</a:t>
          </a:r>
          <a:r>
            <a:rPr lang="en-IN" b="0" i="0" dirty="0"/>
            <a:t> Big Basket</a:t>
          </a:r>
          <a:endParaRPr lang="en-US" dirty="0"/>
        </a:p>
      </dgm:t>
    </dgm:pt>
    <dgm:pt modelId="{34F31BD0-B65C-4407-A88B-5626CDA5EAA6}" type="parTrans" cxnId="{F7A1757C-5CB8-4419-808C-6082C2171F36}">
      <dgm:prSet/>
      <dgm:spPr/>
      <dgm:t>
        <a:bodyPr/>
        <a:lstStyle/>
        <a:p>
          <a:endParaRPr lang="en-US"/>
        </a:p>
      </dgm:t>
    </dgm:pt>
    <dgm:pt modelId="{91848481-A5E8-48A2-BA59-F7442331C5F2}" type="sibTrans" cxnId="{F7A1757C-5CB8-4419-808C-6082C2171F36}">
      <dgm:prSet/>
      <dgm:spPr/>
      <dgm:t>
        <a:bodyPr/>
        <a:lstStyle/>
        <a:p>
          <a:endParaRPr lang="en-US"/>
        </a:p>
      </dgm:t>
    </dgm:pt>
    <dgm:pt modelId="{ACF90B37-D43C-4989-AF27-DCE5C39DF3F1}" type="pres">
      <dgm:prSet presAssocID="{033F31D0-F661-4883-AC3C-BE0B4BA6EED1}" presName="root" presStyleCnt="0">
        <dgm:presLayoutVars>
          <dgm:dir/>
          <dgm:resizeHandles val="exact"/>
        </dgm:presLayoutVars>
      </dgm:prSet>
      <dgm:spPr/>
    </dgm:pt>
    <dgm:pt modelId="{51E27CFD-4546-4AA4-953A-629E7EB952BC}" type="pres">
      <dgm:prSet presAssocID="{EB4EBE98-6166-4FB5-B0C2-262133236D14}" presName="compNode" presStyleCnt="0"/>
      <dgm:spPr/>
    </dgm:pt>
    <dgm:pt modelId="{B357F23A-667A-4347-AA7F-FFE360225C42}" type="pres">
      <dgm:prSet presAssocID="{EB4EBE98-6166-4FB5-B0C2-262133236D14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Kiosk with solid fill"/>
        </a:ext>
      </dgm:extLst>
    </dgm:pt>
    <dgm:pt modelId="{27D125B2-E73C-4ABE-9776-7643C5289000}" type="pres">
      <dgm:prSet presAssocID="{EB4EBE98-6166-4FB5-B0C2-262133236D14}" presName="iconSpace" presStyleCnt="0"/>
      <dgm:spPr/>
    </dgm:pt>
    <dgm:pt modelId="{B5E26736-EF65-4B40-9273-903B23D014C4}" type="pres">
      <dgm:prSet presAssocID="{EB4EBE98-6166-4FB5-B0C2-262133236D14}" presName="parTx" presStyleLbl="revTx" presStyleIdx="0" presStyleCnt="6">
        <dgm:presLayoutVars>
          <dgm:chMax val="0"/>
          <dgm:chPref val="0"/>
        </dgm:presLayoutVars>
      </dgm:prSet>
      <dgm:spPr/>
    </dgm:pt>
    <dgm:pt modelId="{7FB6DB95-6526-4EC3-87D6-303E421C23BC}" type="pres">
      <dgm:prSet presAssocID="{EB4EBE98-6166-4FB5-B0C2-262133236D14}" presName="txSpace" presStyleCnt="0"/>
      <dgm:spPr/>
    </dgm:pt>
    <dgm:pt modelId="{C35075E3-D22B-44BA-AB97-CD4EAD11E5B7}" type="pres">
      <dgm:prSet presAssocID="{EB4EBE98-6166-4FB5-B0C2-262133236D14}" presName="desTx" presStyleLbl="revTx" presStyleIdx="1" presStyleCnt="6" custScaleX="170667" custLinFactNeighborX="1186" custLinFactNeighborY="44025">
        <dgm:presLayoutVars/>
      </dgm:prSet>
      <dgm:spPr/>
    </dgm:pt>
    <dgm:pt modelId="{2CBB4A67-762E-4138-8E47-B922B68DD077}" type="pres">
      <dgm:prSet presAssocID="{4C06E08D-A990-43E0-80CD-6D91A0075CC7}" presName="sibTrans" presStyleCnt="0"/>
      <dgm:spPr/>
    </dgm:pt>
    <dgm:pt modelId="{9C3ADBD9-4C72-4E82-A854-CE852097C87C}" type="pres">
      <dgm:prSet presAssocID="{ABE44B26-2967-4C38-A867-22C53232B563}" presName="compNode" presStyleCnt="0"/>
      <dgm:spPr/>
    </dgm:pt>
    <dgm:pt modelId="{55E04BA3-1F5F-4992-826E-541FEF360E62}" type="pres">
      <dgm:prSet presAssocID="{ABE44B26-2967-4C38-A867-22C53232B563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hopping bag"/>
        </a:ext>
      </dgm:extLst>
    </dgm:pt>
    <dgm:pt modelId="{4E0AEA0C-8726-48EC-B1AB-7300D346F6B7}" type="pres">
      <dgm:prSet presAssocID="{ABE44B26-2967-4C38-A867-22C53232B563}" presName="iconSpace" presStyleCnt="0"/>
      <dgm:spPr/>
    </dgm:pt>
    <dgm:pt modelId="{71DFDF60-007D-4458-9D0C-F61F974F9EB4}" type="pres">
      <dgm:prSet presAssocID="{ABE44B26-2967-4C38-A867-22C53232B563}" presName="parTx" presStyleLbl="revTx" presStyleIdx="2" presStyleCnt="6" custScaleY="103486">
        <dgm:presLayoutVars>
          <dgm:chMax val="0"/>
          <dgm:chPref val="0"/>
        </dgm:presLayoutVars>
      </dgm:prSet>
      <dgm:spPr/>
    </dgm:pt>
    <dgm:pt modelId="{10235CCC-0559-4FE0-8579-4FA5CF2E07F7}" type="pres">
      <dgm:prSet presAssocID="{ABE44B26-2967-4C38-A867-22C53232B563}" presName="txSpace" presStyleCnt="0"/>
      <dgm:spPr/>
    </dgm:pt>
    <dgm:pt modelId="{834D0E75-B745-4F4E-8728-A088AC514FCD}" type="pres">
      <dgm:prSet presAssocID="{ABE44B26-2967-4C38-A867-22C53232B563}" presName="desTx" presStyleLbl="revTx" presStyleIdx="3" presStyleCnt="6" custScaleX="234637" custLinFactNeighborX="5213" custLinFactNeighborY="51227">
        <dgm:presLayoutVars/>
      </dgm:prSet>
      <dgm:spPr/>
    </dgm:pt>
    <dgm:pt modelId="{D4BD2191-F191-43B6-B0A3-54640F7C9176}" type="pres">
      <dgm:prSet presAssocID="{BD251C1A-250C-431C-95C4-CF4618F10F77}" presName="sibTrans" presStyleCnt="0"/>
      <dgm:spPr/>
    </dgm:pt>
    <dgm:pt modelId="{9A753934-D891-4301-B79D-7DE59B0EB514}" type="pres">
      <dgm:prSet presAssocID="{7F179063-093A-4CFB-BE81-775CA331BC7D}" presName="compNode" presStyleCnt="0"/>
      <dgm:spPr/>
    </dgm:pt>
    <dgm:pt modelId="{282EB7C5-7709-4FC8-AED0-5732B23C7105}" type="pres">
      <dgm:prSet presAssocID="{7F179063-093A-4CFB-BE81-775CA331BC7D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Laptop"/>
        </a:ext>
      </dgm:extLst>
    </dgm:pt>
    <dgm:pt modelId="{DBDF6E4D-D407-4E8E-B154-52B746F3EBAE}" type="pres">
      <dgm:prSet presAssocID="{7F179063-093A-4CFB-BE81-775CA331BC7D}" presName="iconSpace" presStyleCnt="0"/>
      <dgm:spPr/>
    </dgm:pt>
    <dgm:pt modelId="{A982DB3D-4A48-46D2-9574-87A04D3E3CB9}" type="pres">
      <dgm:prSet presAssocID="{7F179063-093A-4CFB-BE81-775CA331BC7D}" presName="parTx" presStyleLbl="revTx" presStyleIdx="4" presStyleCnt="6">
        <dgm:presLayoutVars>
          <dgm:chMax val="0"/>
          <dgm:chPref val="0"/>
        </dgm:presLayoutVars>
      </dgm:prSet>
      <dgm:spPr/>
    </dgm:pt>
    <dgm:pt modelId="{FC20AE93-E579-438A-A225-8F18349E779D}" type="pres">
      <dgm:prSet presAssocID="{7F179063-093A-4CFB-BE81-775CA331BC7D}" presName="txSpace" presStyleCnt="0"/>
      <dgm:spPr/>
    </dgm:pt>
    <dgm:pt modelId="{A3A8AB76-390C-438B-9A17-E7B8F89CE884}" type="pres">
      <dgm:prSet presAssocID="{7F179063-093A-4CFB-BE81-775CA331BC7D}" presName="desTx" presStyleLbl="revTx" presStyleIdx="5" presStyleCnt="6" custScaleX="150104" custLinFactNeighborX="3258" custLinFactNeighborY="60534">
        <dgm:presLayoutVars/>
      </dgm:prSet>
      <dgm:spPr/>
    </dgm:pt>
  </dgm:ptLst>
  <dgm:cxnLst>
    <dgm:cxn modelId="{04DA6D0B-C120-45F9-ACD2-55DB21137A35}" srcId="{033F31D0-F661-4883-AC3C-BE0B4BA6EED1}" destId="{EB4EBE98-6166-4FB5-B0C2-262133236D14}" srcOrd="0" destOrd="0" parTransId="{E1A1A26C-DA9A-49EC-AD91-3EFB06C89F44}" sibTransId="{4C06E08D-A990-43E0-80CD-6D91A0075CC7}"/>
    <dgm:cxn modelId="{B6066E38-2F5B-4F81-B337-EBEA1841C044}" srcId="{EB4EBE98-6166-4FB5-B0C2-262133236D14}" destId="{400ED00D-49FC-4371-BF78-2AFFAF2DB723}" srcOrd="0" destOrd="0" parTransId="{D73A61FA-536B-4A97-A424-68D066D30B71}" sibTransId="{5B780DED-23A9-412A-8BAF-16BF5B353EEE}"/>
    <dgm:cxn modelId="{0D24DC63-004E-4DD8-BAAA-2893740FBE05}" type="presOf" srcId="{D3EF8491-A0A6-46DF-9983-C39271763698}" destId="{A3A8AB76-390C-438B-9A17-E7B8F89CE884}" srcOrd="0" destOrd="0" presId="urn:microsoft.com/office/officeart/2018/5/layout/CenteredIconLabelDescriptionList"/>
    <dgm:cxn modelId="{33C3C26E-6974-4C3D-8006-12EF0A94E16B}" type="presOf" srcId="{7F179063-093A-4CFB-BE81-775CA331BC7D}" destId="{A982DB3D-4A48-46D2-9574-87A04D3E3CB9}" srcOrd="0" destOrd="0" presId="urn:microsoft.com/office/officeart/2018/5/layout/CenteredIconLabelDescriptionList"/>
    <dgm:cxn modelId="{78D7BE72-83AB-4281-82DF-CFC9187ADDC7}" type="presOf" srcId="{033F31D0-F661-4883-AC3C-BE0B4BA6EED1}" destId="{ACF90B37-D43C-4989-AF27-DCE5C39DF3F1}" srcOrd="0" destOrd="0" presId="urn:microsoft.com/office/officeart/2018/5/layout/CenteredIconLabelDescriptionList"/>
    <dgm:cxn modelId="{DF035875-8564-4040-B69C-553BA86BEACE}" type="presOf" srcId="{DBE41B50-021B-42F4-A007-11BF7C299AF7}" destId="{834D0E75-B745-4F4E-8728-A088AC514FCD}" srcOrd="0" destOrd="0" presId="urn:microsoft.com/office/officeart/2018/5/layout/CenteredIconLabelDescriptionList"/>
    <dgm:cxn modelId="{F456D158-00AB-4E95-92FE-5B9A661F36AF}" type="presOf" srcId="{ABE44B26-2967-4C38-A867-22C53232B563}" destId="{71DFDF60-007D-4458-9D0C-F61F974F9EB4}" srcOrd="0" destOrd="0" presId="urn:microsoft.com/office/officeart/2018/5/layout/CenteredIconLabelDescriptionList"/>
    <dgm:cxn modelId="{F7A1757C-5CB8-4419-808C-6082C2171F36}" srcId="{7F179063-093A-4CFB-BE81-775CA331BC7D}" destId="{D3EF8491-A0A6-46DF-9983-C39271763698}" srcOrd="0" destOrd="0" parTransId="{34F31BD0-B65C-4407-A88B-5626CDA5EAA6}" sibTransId="{91848481-A5E8-48A2-BA59-F7442331C5F2}"/>
    <dgm:cxn modelId="{705D00A8-0EDE-41BD-A755-F414E5134E09}" srcId="{ABE44B26-2967-4C38-A867-22C53232B563}" destId="{DBE41B50-021B-42F4-A007-11BF7C299AF7}" srcOrd="0" destOrd="0" parTransId="{5FBDE9E1-BB92-4A24-B1C6-04F3747E24C6}" sibTransId="{05354CC5-7C01-4104-8732-643FF03119CF}"/>
    <dgm:cxn modelId="{719201A8-5C36-4BE2-94C9-A28CC9DC15D5}" srcId="{033F31D0-F661-4883-AC3C-BE0B4BA6EED1}" destId="{7F179063-093A-4CFB-BE81-775CA331BC7D}" srcOrd="2" destOrd="0" parTransId="{14465144-0A5F-4748-A6CC-D081738E8F77}" sibTransId="{A66C593E-AB44-4060-BBBE-5EF93D2DBA8A}"/>
    <dgm:cxn modelId="{C34DE5BD-5981-4165-BC22-77E65C33C1BE}" type="presOf" srcId="{EB4EBE98-6166-4FB5-B0C2-262133236D14}" destId="{B5E26736-EF65-4B40-9273-903B23D014C4}" srcOrd="0" destOrd="0" presId="urn:microsoft.com/office/officeart/2018/5/layout/CenteredIconLabelDescriptionList"/>
    <dgm:cxn modelId="{5C51E0BE-B1F6-4806-A038-325A6A8A058C}" type="presOf" srcId="{400ED00D-49FC-4371-BF78-2AFFAF2DB723}" destId="{C35075E3-D22B-44BA-AB97-CD4EAD11E5B7}" srcOrd="0" destOrd="0" presId="urn:microsoft.com/office/officeart/2018/5/layout/CenteredIconLabelDescriptionList"/>
    <dgm:cxn modelId="{5022BFE5-C5EB-4610-8F4A-A4BA1BB40E78}" srcId="{033F31D0-F661-4883-AC3C-BE0B4BA6EED1}" destId="{ABE44B26-2967-4C38-A867-22C53232B563}" srcOrd="1" destOrd="0" parTransId="{24C772A2-BEA3-4B28-9232-444786AB1D4E}" sibTransId="{BD251C1A-250C-431C-95C4-CF4618F10F77}"/>
    <dgm:cxn modelId="{96D37316-42EB-4141-9F7F-FE5C480FC5D9}" type="presParOf" srcId="{ACF90B37-D43C-4989-AF27-DCE5C39DF3F1}" destId="{51E27CFD-4546-4AA4-953A-629E7EB952BC}" srcOrd="0" destOrd="0" presId="urn:microsoft.com/office/officeart/2018/5/layout/CenteredIconLabelDescriptionList"/>
    <dgm:cxn modelId="{7DEBB127-CADA-4D33-B97D-F6B83A000344}" type="presParOf" srcId="{51E27CFD-4546-4AA4-953A-629E7EB952BC}" destId="{B357F23A-667A-4347-AA7F-FFE360225C42}" srcOrd="0" destOrd="0" presId="urn:microsoft.com/office/officeart/2018/5/layout/CenteredIconLabelDescriptionList"/>
    <dgm:cxn modelId="{3339A15A-2D64-43CE-AADF-1878B0C7A349}" type="presParOf" srcId="{51E27CFD-4546-4AA4-953A-629E7EB952BC}" destId="{27D125B2-E73C-4ABE-9776-7643C5289000}" srcOrd="1" destOrd="0" presId="urn:microsoft.com/office/officeart/2018/5/layout/CenteredIconLabelDescriptionList"/>
    <dgm:cxn modelId="{64E98014-0F42-4E25-A6EB-FD18205A9E3E}" type="presParOf" srcId="{51E27CFD-4546-4AA4-953A-629E7EB952BC}" destId="{B5E26736-EF65-4B40-9273-903B23D014C4}" srcOrd="2" destOrd="0" presId="urn:microsoft.com/office/officeart/2018/5/layout/CenteredIconLabelDescriptionList"/>
    <dgm:cxn modelId="{29C4D3F6-D6E0-409C-A45F-3C72F892228A}" type="presParOf" srcId="{51E27CFD-4546-4AA4-953A-629E7EB952BC}" destId="{7FB6DB95-6526-4EC3-87D6-303E421C23BC}" srcOrd="3" destOrd="0" presId="urn:microsoft.com/office/officeart/2018/5/layout/CenteredIconLabelDescriptionList"/>
    <dgm:cxn modelId="{163737D4-55B3-4B9E-9B44-79CA28A87414}" type="presParOf" srcId="{51E27CFD-4546-4AA4-953A-629E7EB952BC}" destId="{C35075E3-D22B-44BA-AB97-CD4EAD11E5B7}" srcOrd="4" destOrd="0" presId="urn:microsoft.com/office/officeart/2018/5/layout/CenteredIconLabelDescriptionList"/>
    <dgm:cxn modelId="{1C5FEF30-63AF-4758-9264-34A72E1BC54A}" type="presParOf" srcId="{ACF90B37-D43C-4989-AF27-DCE5C39DF3F1}" destId="{2CBB4A67-762E-4138-8E47-B922B68DD077}" srcOrd="1" destOrd="0" presId="urn:microsoft.com/office/officeart/2018/5/layout/CenteredIconLabelDescriptionList"/>
    <dgm:cxn modelId="{2CAF0BB6-2244-4EBF-9F23-DE6AAD173F97}" type="presParOf" srcId="{ACF90B37-D43C-4989-AF27-DCE5C39DF3F1}" destId="{9C3ADBD9-4C72-4E82-A854-CE852097C87C}" srcOrd="2" destOrd="0" presId="urn:microsoft.com/office/officeart/2018/5/layout/CenteredIconLabelDescriptionList"/>
    <dgm:cxn modelId="{15CC4B6C-90E1-4D58-BB4B-1683E4D6F51B}" type="presParOf" srcId="{9C3ADBD9-4C72-4E82-A854-CE852097C87C}" destId="{55E04BA3-1F5F-4992-826E-541FEF360E62}" srcOrd="0" destOrd="0" presId="urn:microsoft.com/office/officeart/2018/5/layout/CenteredIconLabelDescriptionList"/>
    <dgm:cxn modelId="{B7179EA8-7CD1-434E-8890-F4145F28CD31}" type="presParOf" srcId="{9C3ADBD9-4C72-4E82-A854-CE852097C87C}" destId="{4E0AEA0C-8726-48EC-B1AB-7300D346F6B7}" srcOrd="1" destOrd="0" presId="urn:microsoft.com/office/officeart/2018/5/layout/CenteredIconLabelDescriptionList"/>
    <dgm:cxn modelId="{9A40FFE8-BC4C-44EB-85ED-D96B054CB8DF}" type="presParOf" srcId="{9C3ADBD9-4C72-4E82-A854-CE852097C87C}" destId="{71DFDF60-007D-4458-9D0C-F61F974F9EB4}" srcOrd="2" destOrd="0" presId="urn:microsoft.com/office/officeart/2018/5/layout/CenteredIconLabelDescriptionList"/>
    <dgm:cxn modelId="{FCBEC4EC-C57C-44BB-BD44-F719C16F7980}" type="presParOf" srcId="{9C3ADBD9-4C72-4E82-A854-CE852097C87C}" destId="{10235CCC-0559-4FE0-8579-4FA5CF2E07F7}" srcOrd="3" destOrd="0" presId="urn:microsoft.com/office/officeart/2018/5/layout/CenteredIconLabelDescriptionList"/>
    <dgm:cxn modelId="{CF1895C7-5D25-47B4-9459-B4DE128AE057}" type="presParOf" srcId="{9C3ADBD9-4C72-4E82-A854-CE852097C87C}" destId="{834D0E75-B745-4F4E-8728-A088AC514FCD}" srcOrd="4" destOrd="0" presId="urn:microsoft.com/office/officeart/2018/5/layout/CenteredIconLabelDescriptionList"/>
    <dgm:cxn modelId="{B5A02010-D303-4F57-98C4-70F153D9DC13}" type="presParOf" srcId="{ACF90B37-D43C-4989-AF27-DCE5C39DF3F1}" destId="{D4BD2191-F191-43B6-B0A3-54640F7C9176}" srcOrd="3" destOrd="0" presId="urn:microsoft.com/office/officeart/2018/5/layout/CenteredIconLabelDescriptionList"/>
    <dgm:cxn modelId="{7A58AB91-9A9E-4453-B4F5-9E915B3D5B58}" type="presParOf" srcId="{ACF90B37-D43C-4989-AF27-DCE5C39DF3F1}" destId="{9A753934-D891-4301-B79D-7DE59B0EB514}" srcOrd="4" destOrd="0" presId="urn:microsoft.com/office/officeart/2018/5/layout/CenteredIconLabelDescriptionList"/>
    <dgm:cxn modelId="{AAF1FE64-FCE5-4C0D-83B6-432643D49DA8}" type="presParOf" srcId="{9A753934-D891-4301-B79D-7DE59B0EB514}" destId="{282EB7C5-7709-4FC8-AED0-5732B23C7105}" srcOrd="0" destOrd="0" presId="urn:microsoft.com/office/officeart/2018/5/layout/CenteredIconLabelDescriptionList"/>
    <dgm:cxn modelId="{C7FB31A1-2D15-499B-89F1-C234EF481330}" type="presParOf" srcId="{9A753934-D891-4301-B79D-7DE59B0EB514}" destId="{DBDF6E4D-D407-4E8E-B154-52B746F3EBAE}" srcOrd="1" destOrd="0" presId="urn:microsoft.com/office/officeart/2018/5/layout/CenteredIconLabelDescriptionList"/>
    <dgm:cxn modelId="{7251DB94-3964-4FEC-90E3-A803BD1BA030}" type="presParOf" srcId="{9A753934-D891-4301-B79D-7DE59B0EB514}" destId="{A982DB3D-4A48-46D2-9574-87A04D3E3CB9}" srcOrd="2" destOrd="0" presId="urn:microsoft.com/office/officeart/2018/5/layout/CenteredIconLabelDescriptionList"/>
    <dgm:cxn modelId="{C5846224-B189-4834-B574-2BD559696721}" type="presParOf" srcId="{9A753934-D891-4301-B79D-7DE59B0EB514}" destId="{FC20AE93-E579-438A-A225-8F18349E779D}" srcOrd="3" destOrd="0" presId="urn:microsoft.com/office/officeart/2018/5/layout/CenteredIconLabelDescriptionList"/>
    <dgm:cxn modelId="{6DDEB5E1-9E58-4C12-A3D6-29C348D0C6F9}" type="presParOf" srcId="{9A753934-D891-4301-B79D-7DE59B0EB514}" destId="{A3A8AB76-390C-438B-9A17-E7B8F89CE884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A4185A17-2BC9-4362-8B08-B2D828817ABE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5" csCatId="colorful" phldr="1"/>
      <dgm:spPr/>
      <dgm:t>
        <a:bodyPr/>
        <a:lstStyle/>
        <a:p>
          <a:endParaRPr lang="en-US"/>
        </a:p>
      </dgm:t>
    </dgm:pt>
    <dgm:pt modelId="{AC318664-2A4D-4873-AC75-5E05EC00012B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400" b="1" dirty="0"/>
            <a:t>India's retail sector is a land of opportunity:</a:t>
          </a:r>
        </a:p>
        <a:p>
          <a:pPr>
            <a:lnSpc>
              <a:spcPct val="100000"/>
            </a:lnSpc>
          </a:pPr>
          <a:endParaRPr lang="en-US" sz="1100" dirty="0"/>
        </a:p>
        <a:p>
          <a:pPr>
            <a:lnSpc>
              <a:spcPct val="100000"/>
            </a:lnSpc>
          </a:pPr>
          <a:r>
            <a:rPr lang="en-US" sz="1400" dirty="0"/>
            <a:t> Highlight the growth potential due to rising income, booming e-commerce, and increasing tech adoption.</a:t>
          </a:r>
        </a:p>
      </dgm:t>
    </dgm:pt>
    <dgm:pt modelId="{51929D07-490B-41A9-9535-A1429AD6DEB0}" type="parTrans" cxnId="{E4F7EDF3-5E7A-4EF6-9016-95D4A3B515FC}">
      <dgm:prSet/>
      <dgm:spPr/>
      <dgm:t>
        <a:bodyPr/>
        <a:lstStyle/>
        <a:p>
          <a:endParaRPr lang="en-US"/>
        </a:p>
      </dgm:t>
    </dgm:pt>
    <dgm:pt modelId="{9FEC652B-ACCB-4ED8-8EF3-D9F47BDC1360}" type="sibTrans" cxnId="{E4F7EDF3-5E7A-4EF6-9016-95D4A3B515FC}">
      <dgm:prSet/>
      <dgm:spPr/>
      <dgm:t>
        <a:bodyPr/>
        <a:lstStyle/>
        <a:p>
          <a:endParaRPr lang="en-US"/>
        </a:p>
      </dgm:t>
    </dgm:pt>
    <dgm:pt modelId="{C5FE236B-02B9-47E5-8F45-812DD6453FC7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400" b="1" dirty="0"/>
            <a:t>Embrace omnichannel strategies: </a:t>
          </a:r>
        </a:p>
        <a:p>
          <a:pPr>
            <a:lnSpc>
              <a:spcPct val="100000"/>
            </a:lnSpc>
          </a:pPr>
          <a:endParaRPr lang="en-US" sz="1100" dirty="0"/>
        </a:p>
        <a:p>
          <a:pPr>
            <a:lnSpc>
              <a:spcPct val="100000"/>
            </a:lnSpc>
          </a:pPr>
          <a:r>
            <a:rPr lang="en-US" sz="1400" dirty="0"/>
            <a:t>Emphasize the importance of integrating physical and online stores for a seamless customer experience.</a:t>
          </a:r>
        </a:p>
      </dgm:t>
    </dgm:pt>
    <dgm:pt modelId="{43DA2C9B-90A7-4231-BD7D-830C16DD4CC8}" type="parTrans" cxnId="{82FF3D1E-23D1-4E32-9193-F925A6528C39}">
      <dgm:prSet/>
      <dgm:spPr/>
      <dgm:t>
        <a:bodyPr/>
        <a:lstStyle/>
        <a:p>
          <a:endParaRPr lang="en-US"/>
        </a:p>
      </dgm:t>
    </dgm:pt>
    <dgm:pt modelId="{7B742CE0-8A4D-4037-9199-D87E163A367E}" type="sibTrans" cxnId="{82FF3D1E-23D1-4E32-9193-F925A6528C39}">
      <dgm:prSet/>
      <dgm:spPr/>
      <dgm:t>
        <a:bodyPr/>
        <a:lstStyle/>
        <a:p>
          <a:endParaRPr lang="en-US"/>
        </a:p>
      </dgm:t>
    </dgm:pt>
    <dgm:pt modelId="{2258D33A-34DA-441C-BCA9-57F3E2C749B5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400" b="1" dirty="0"/>
            <a:t>Challenges require innovation:</a:t>
          </a:r>
        </a:p>
        <a:p>
          <a:pPr>
            <a:lnSpc>
              <a:spcPct val="100000"/>
            </a:lnSpc>
          </a:pPr>
          <a:r>
            <a:rPr lang="en-US" sz="1100" dirty="0"/>
            <a:t> </a:t>
          </a:r>
          <a:r>
            <a:rPr lang="en-US" sz="1400" dirty="0"/>
            <a:t>Acknowledge the competition from unorganized retail, expensive real estate, and a complex supply chain. However, frame it as an opportunity to innovate and improve efficiency.</a:t>
          </a:r>
        </a:p>
      </dgm:t>
    </dgm:pt>
    <dgm:pt modelId="{ABE1A834-A03C-4C05-9091-1857DFE200D8}" type="parTrans" cxnId="{3E52ED1C-5A38-4D4A-939E-C2396FAA4127}">
      <dgm:prSet/>
      <dgm:spPr/>
      <dgm:t>
        <a:bodyPr/>
        <a:lstStyle/>
        <a:p>
          <a:endParaRPr lang="en-US"/>
        </a:p>
      </dgm:t>
    </dgm:pt>
    <dgm:pt modelId="{08B6C283-BA26-4153-937E-76D0F377B2E3}" type="sibTrans" cxnId="{3E52ED1C-5A38-4D4A-939E-C2396FAA4127}">
      <dgm:prSet/>
      <dgm:spPr/>
      <dgm:t>
        <a:bodyPr/>
        <a:lstStyle/>
        <a:p>
          <a:endParaRPr lang="en-US"/>
        </a:p>
      </dgm:t>
    </dgm:pt>
    <dgm:pt modelId="{ED2737E0-B9B0-4BB0-A140-80204FBE7429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400" b="1" dirty="0"/>
            <a:t>The customer is king: </a:t>
          </a:r>
        </a:p>
        <a:p>
          <a:pPr>
            <a:lnSpc>
              <a:spcPct val="100000"/>
            </a:lnSpc>
          </a:pPr>
          <a:r>
            <a:rPr lang="en-US" sz="1400" dirty="0"/>
            <a:t>Reinforce the need to adapt to evolving consumer preferences and buying habits.</a:t>
          </a:r>
        </a:p>
      </dgm:t>
    </dgm:pt>
    <dgm:pt modelId="{F1923BCA-21FE-490A-BB65-690C4EFCE402}" type="parTrans" cxnId="{33FFAFAD-1908-4EE0-8076-BA588F4FA6E4}">
      <dgm:prSet/>
      <dgm:spPr/>
      <dgm:t>
        <a:bodyPr/>
        <a:lstStyle/>
        <a:p>
          <a:endParaRPr lang="en-US"/>
        </a:p>
      </dgm:t>
    </dgm:pt>
    <dgm:pt modelId="{32B83FDF-8BAE-4D0C-BF22-D81B2DA18E78}" type="sibTrans" cxnId="{33FFAFAD-1908-4EE0-8076-BA588F4FA6E4}">
      <dgm:prSet/>
      <dgm:spPr/>
      <dgm:t>
        <a:bodyPr/>
        <a:lstStyle/>
        <a:p>
          <a:endParaRPr lang="en-US"/>
        </a:p>
      </dgm:t>
    </dgm:pt>
    <dgm:pt modelId="{423D660F-9F38-4B0B-B802-5C4D1829EC11}" type="pres">
      <dgm:prSet presAssocID="{A4185A17-2BC9-4362-8B08-B2D828817ABE}" presName="root" presStyleCnt="0">
        <dgm:presLayoutVars>
          <dgm:dir/>
          <dgm:resizeHandles val="exact"/>
        </dgm:presLayoutVars>
      </dgm:prSet>
      <dgm:spPr/>
    </dgm:pt>
    <dgm:pt modelId="{9E3037B5-24A6-4547-97E5-6EABD27B0966}" type="pres">
      <dgm:prSet presAssocID="{AC318664-2A4D-4873-AC75-5E05EC00012B}" presName="compNode" presStyleCnt="0"/>
      <dgm:spPr/>
    </dgm:pt>
    <dgm:pt modelId="{4C0856CD-2948-4100-B0D0-C2D4E2FAF8CD}" type="pres">
      <dgm:prSet presAssocID="{AC318664-2A4D-4873-AC75-5E05EC00012B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usiness Growth"/>
        </a:ext>
      </dgm:extLst>
    </dgm:pt>
    <dgm:pt modelId="{51475640-AB66-4565-93EE-9A30EF9C300A}" type="pres">
      <dgm:prSet presAssocID="{AC318664-2A4D-4873-AC75-5E05EC00012B}" presName="spaceRect" presStyleCnt="0"/>
      <dgm:spPr/>
    </dgm:pt>
    <dgm:pt modelId="{D0B842AF-733A-40BF-8A22-2E45E940B5A7}" type="pres">
      <dgm:prSet presAssocID="{AC318664-2A4D-4873-AC75-5E05EC00012B}" presName="textRect" presStyleLbl="revTx" presStyleIdx="0" presStyleCnt="4" custScaleX="135990" custScaleY="123972">
        <dgm:presLayoutVars>
          <dgm:chMax val="1"/>
          <dgm:chPref val="1"/>
        </dgm:presLayoutVars>
      </dgm:prSet>
      <dgm:spPr/>
    </dgm:pt>
    <dgm:pt modelId="{A7E0210A-AD66-4EAB-813A-CF93DEAB026F}" type="pres">
      <dgm:prSet presAssocID="{9FEC652B-ACCB-4ED8-8EF3-D9F47BDC1360}" presName="sibTrans" presStyleCnt="0"/>
      <dgm:spPr/>
    </dgm:pt>
    <dgm:pt modelId="{1B586DE9-F574-4185-92CF-0A204D2EAB01}" type="pres">
      <dgm:prSet presAssocID="{C5FE236B-02B9-47E5-8F45-812DD6453FC7}" presName="compNode" presStyleCnt="0"/>
      <dgm:spPr/>
    </dgm:pt>
    <dgm:pt modelId="{65AC728B-AAB2-4C5C-A8B7-5A5127616CCC}" type="pres">
      <dgm:prSet presAssocID="{C5FE236B-02B9-47E5-8F45-812DD6453FC7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ore"/>
        </a:ext>
      </dgm:extLst>
    </dgm:pt>
    <dgm:pt modelId="{AAEDAD7D-07A1-44A8-BFD7-A8B8C273C851}" type="pres">
      <dgm:prSet presAssocID="{C5FE236B-02B9-47E5-8F45-812DD6453FC7}" presName="spaceRect" presStyleCnt="0"/>
      <dgm:spPr/>
    </dgm:pt>
    <dgm:pt modelId="{1F81CA5F-B5B1-4C7A-838D-36BD7AA74291}" type="pres">
      <dgm:prSet presAssocID="{C5FE236B-02B9-47E5-8F45-812DD6453FC7}" presName="textRect" presStyleLbl="revTx" presStyleIdx="1" presStyleCnt="4" custScaleX="130534" custLinFactNeighborX="569" custLinFactNeighborY="-9844">
        <dgm:presLayoutVars>
          <dgm:chMax val="1"/>
          <dgm:chPref val="1"/>
        </dgm:presLayoutVars>
      </dgm:prSet>
      <dgm:spPr/>
    </dgm:pt>
    <dgm:pt modelId="{44459339-D361-48F3-B27E-D38B02D4A538}" type="pres">
      <dgm:prSet presAssocID="{7B742CE0-8A4D-4037-9199-D87E163A367E}" presName="sibTrans" presStyleCnt="0"/>
      <dgm:spPr/>
    </dgm:pt>
    <dgm:pt modelId="{F2D55FFC-C7FC-4FE9-B203-EEF065D64CAB}" type="pres">
      <dgm:prSet presAssocID="{2258D33A-34DA-441C-BCA9-57F3E2C749B5}" presName="compNode" presStyleCnt="0"/>
      <dgm:spPr/>
    </dgm:pt>
    <dgm:pt modelId="{0F0D2CF8-8E20-4AB6-A3C0-1E5F3C4912C6}" type="pres">
      <dgm:prSet presAssocID="{2258D33A-34DA-441C-BCA9-57F3E2C749B5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Kiosk"/>
        </a:ext>
      </dgm:extLst>
    </dgm:pt>
    <dgm:pt modelId="{81AABBE5-7A54-49ED-914A-C3F4739AC5A4}" type="pres">
      <dgm:prSet presAssocID="{2258D33A-34DA-441C-BCA9-57F3E2C749B5}" presName="spaceRect" presStyleCnt="0"/>
      <dgm:spPr/>
    </dgm:pt>
    <dgm:pt modelId="{AD5AEDDD-8083-450E-9DB7-237BE70B70F4}" type="pres">
      <dgm:prSet presAssocID="{2258D33A-34DA-441C-BCA9-57F3E2C749B5}" presName="textRect" presStyleLbl="revTx" presStyleIdx="2" presStyleCnt="4" custScaleX="167962">
        <dgm:presLayoutVars>
          <dgm:chMax val="1"/>
          <dgm:chPref val="1"/>
        </dgm:presLayoutVars>
      </dgm:prSet>
      <dgm:spPr/>
    </dgm:pt>
    <dgm:pt modelId="{A3D120B0-CB0A-438C-9721-5580E8FE973A}" type="pres">
      <dgm:prSet presAssocID="{08B6C283-BA26-4153-937E-76D0F377B2E3}" presName="sibTrans" presStyleCnt="0"/>
      <dgm:spPr/>
    </dgm:pt>
    <dgm:pt modelId="{D7AD3A7E-3318-4B1C-B334-98E19737F153}" type="pres">
      <dgm:prSet presAssocID="{ED2737E0-B9B0-4BB0-A140-80204FBE7429}" presName="compNode" presStyleCnt="0"/>
      <dgm:spPr/>
    </dgm:pt>
    <dgm:pt modelId="{B6C2B8A4-46BB-4871-9014-D7FA32490B97}" type="pres">
      <dgm:prSet presAssocID="{ED2737E0-B9B0-4BB0-A140-80204FBE7429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astle scene"/>
        </a:ext>
      </dgm:extLst>
    </dgm:pt>
    <dgm:pt modelId="{EC73300E-BC56-414A-A71E-301A2174E573}" type="pres">
      <dgm:prSet presAssocID="{ED2737E0-B9B0-4BB0-A140-80204FBE7429}" presName="spaceRect" presStyleCnt="0"/>
      <dgm:spPr/>
    </dgm:pt>
    <dgm:pt modelId="{0A130220-B799-42A8-BF29-13CA8E23FCCD}" type="pres">
      <dgm:prSet presAssocID="{ED2737E0-B9B0-4BB0-A140-80204FBE7429}" presName="textRect" presStyleLbl="revTx" presStyleIdx="3" presStyleCnt="4" custScaleX="135135">
        <dgm:presLayoutVars>
          <dgm:chMax val="1"/>
          <dgm:chPref val="1"/>
        </dgm:presLayoutVars>
      </dgm:prSet>
      <dgm:spPr/>
    </dgm:pt>
  </dgm:ptLst>
  <dgm:cxnLst>
    <dgm:cxn modelId="{CD234706-1E88-4374-9704-CA9F779894BD}" type="presOf" srcId="{2258D33A-34DA-441C-BCA9-57F3E2C749B5}" destId="{AD5AEDDD-8083-450E-9DB7-237BE70B70F4}" srcOrd="0" destOrd="0" presId="urn:microsoft.com/office/officeart/2018/2/layout/IconLabelList"/>
    <dgm:cxn modelId="{3E52ED1C-5A38-4D4A-939E-C2396FAA4127}" srcId="{A4185A17-2BC9-4362-8B08-B2D828817ABE}" destId="{2258D33A-34DA-441C-BCA9-57F3E2C749B5}" srcOrd="2" destOrd="0" parTransId="{ABE1A834-A03C-4C05-9091-1857DFE200D8}" sibTransId="{08B6C283-BA26-4153-937E-76D0F377B2E3}"/>
    <dgm:cxn modelId="{82FF3D1E-23D1-4E32-9193-F925A6528C39}" srcId="{A4185A17-2BC9-4362-8B08-B2D828817ABE}" destId="{C5FE236B-02B9-47E5-8F45-812DD6453FC7}" srcOrd="1" destOrd="0" parTransId="{43DA2C9B-90A7-4231-BD7D-830C16DD4CC8}" sibTransId="{7B742CE0-8A4D-4037-9199-D87E163A367E}"/>
    <dgm:cxn modelId="{B8D50771-1787-47A0-8D9D-D5109EF6587C}" type="presOf" srcId="{AC318664-2A4D-4873-AC75-5E05EC00012B}" destId="{D0B842AF-733A-40BF-8A22-2E45E940B5A7}" srcOrd="0" destOrd="0" presId="urn:microsoft.com/office/officeart/2018/2/layout/IconLabelList"/>
    <dgm:cxn modelId="{C9C4AD88-5ACF-4BD6-A1BD-BCA061FA1268}" type="presOf" srcId="{C5FE236B-02B9-47E5-8F45-812DD6453FC7}" destId="{1F81CA5F-B5B1-4C7A-838D-36BD7AA74291}" srcOrd="0" destOrd="0" presId="urn:microsoft.com/office/officeart/2018/2/layout/IconLabelList"/>
    <dgm:cxn modelId="{33FFAFAD-1908-4EE0-8076-BA588F4FA6E4}" srcId="{A4185A17-2BC9-4362-8B08-B2D828817ABE}" destId="{ED2737E0-B9B0-4BB0-A140-80204FBE7429}" srcOrd="3" destOrd="0" parTransId="{F1923BCA-21FE-490A-BB65-690C4EFCE402}" sibTransId="{32B83FDF-8BAE-4D0C-BF22-D81B2DA18E78}"/>
    <dgm:cxn modelId="{4D9405D0-94C0-4FA7-8D3E-DD44C75695C1}" type="presOf" srcId="{ED2737E0-B9B0-4BB0-A140-80204FBE7429}" destId="{0A130220-B799-42A8-BF29-13CA8E23FCCD}" srcOrd="0" destOrd="0" presId="urn:microsoft.com/office/officeart/2018/2/layout/IconLabelList"/>
    <dgm:cxn modelId="{A08951E5-316A-4228-AE04-F621EEFDA16B}" type="presOf" srcId="{A4185A17-2BC9-4362-8B08-B2D828817ABE}" destId="{423D660F-9F38-4B0B-B802-5C4D1829EC11}" srcOrd="0" destOrd="0" presId="urn:microsoft.com/office/officeart/2018/2/layout/IconLabelList"/>
    <dgm:cxn modelId="{E4F7EDF3-5E7A-4EF6-9016-95D4A3B515FC}" srcId="{A4185A17-2BC9-4362-8B08-B2D828817ABE}" destId="{AC318664-2A4D-4873-AC75-5E05EC00012B}" srcOrd="0" destOrd="0" parTransId="{51929D07-490B-41A9-9535-A1429AD6DEB0}" sibTransId="{9FEC652B-ACCB-4ED8-8EF3-D9F47BDC1360}"/>
    <dgm:cxn modelId="{B7FE662C-E671-49D2-9E99-15F2322D7EC6}" type="presParOf" srcId="{423D660F-9F38-4B0B-B802-5C4D1829EC11}" destId="{9E3037B5-24A6-4547-97E5-6EABD27B0966}" srcOrd="0" destOrd="0" presId="urn:microsoft.com/office/officeart/2018/2/layout/IconLabelList"/>
    <dgm:cxn modelId="{6B389308-F367-4730-9CA0-9E535340BEDE}" type="presParOf" srcId="{9E3037B5-24A6-4547-97E5-6EABD27B0966}" destId="{4C0856CD-2948-4100-B0D0-C2D4E2FAF8CD}" srcOrd="0" destOrd="0" presId="urn:microsoft.com/office/officeart/2018/2/layout/IconLabelList"/>
    <dgm:cxn modelId="{367A7150-2FE5-4870-856E-37D194C9B010}" type="presParOf" srcId="{9E3037B5-24A6-4547-97E5-6EABD27B0966}" destId="{51475640-AB66-4565-93EE-9A30EF9C300A}" srcOrd="1" destOrd="0" presId="urn:microsoft.com/office/officeart/2018/2/layout/IconLabelList"/>
    <dgm:cxn modelId="{A748E4E0-D353-4561-856F-169BD6224067}" type="presParOf" srcId="{9E3037B5-24A6-4547-97E5-6EABD27B0966}" destId="{D0B842AF-733A-40BF-8A22-2E45E940B5A7}" srcOrd="2" destOrd="0" presId="urn:microsoft.com/office/officeart/2018/2/layout/IconLabelList"/>
    <dgm:cxn modelId="{FA167543-23FC-4D6F-9C6F-6E2FEA412C21}" type="presParOf" srcId="{423D660F-9F38-4B0B-B802-5C4D1829EC11}" destId="{A7E0210A-AD66-4EAB-813A-CF93DEAB026F}" srcOrd="1" destOrd="0" presId="urn:microsoft.com/office/officeart/2018/2/layout/IconLabelList"/>
    <dgm:cxn modelId="{25498562-BA6B-4185-AA50-350853B42166}" type="presParOf" srcId="{423D660F-9F38-4B0B-B802-5C4D1829EC11}" destId="{1B586DE9-F574-4185-92CF-0A204D2EAB01}" srcOrd="2" destOrd="0" presId="urn:microsoft.com/office/officeart/2018/2/layout/IconLabelList"/>
    <dgm:cxn modelId="{41A562AA-0D3F-49BC-86CE-1CEFEF2F5E24}" type="presParOf" srcId="{1B586DE9-F574-4185-92CF-0A204D2EAB01}" destId="{65AC728B-AAB2-4C5C-A8B7-5A5127616CCC}" srcOrd="0" destOrd="0" presId="urn:microsoft.com/office/officeart/2018/2/layout/IconLabelList"/>
    <dgm:cxn modelId="{5D11F5A0-E7D7-4AEA-B6B1-CF59AF1F7CD8}" type="presParOf" srcId="{1B586DE9-F574-4185-92CF-0A204D2EAB01}" destId="{AAEDAD7D-07A1-44A8-BFD7-A8B8C273C851}" srcOrd="1" destOrd="0" presId="urn:microsoft.com/office/officeart/2018/2/layout/IconLabelList"/>
    <dgm:cxn modelId="{A9E75278-B8F7-4A0A-8C67-ACB9834010F5}" type="presParOf" srcId="{1B586DE9-F574-4185-92CF-0A204D2EAB01}" destId="{1F81CA5F-B5B1-4C7A-838D-36BD7AA74291}" srcOrd="2" destOrd="0" presId="urn:microsoft.com/office/officeart/2018/2/layout/IconLabelList"/>
    <dgm:cxn modelId="{48941B8F-6613-47EC-ADAE-1943F7246C1C}" type="presParOf" srcId="{423D660F-9F38-4B0B-B802-5C4D1829EC11}" destId="{44459339-D361-48F3-B27E-D38B02D4A538}" srcOrd="3" destOrd="0" presId="urn:microsoft.com/office/officeart/2018/2/layout/IconLabelList"/>
    <dgm:cxn modelId="{6ECEAA5B-6707-486B-8526-DE9BB1095E81}" type="presParOf" srcId="{423D660F-9F38-4B0B-B802-5C4D1829EC11}" destId="{F2D55FFC-C7FC-4FE9-B203-EEF065D64CAB}" srcOrd="4" destOrd="0" presId="urn:microsoft.com/office/officeart/2018/2/layout/IconLabelList"/>
    <dgm:cxn modelId="{C956A874-D180-4B40-BED5-DB0655BA2C43}" type="presParOf" srcId="{F2D55FFC-C7FC-4FE9-B203-EEF065D64CAB}" destId="{0F0D2CF8-8E20-4AB6-A3C0-1E5F3C4912C6}" srcOrd="0" destOrd="0" presId="urn:microsoft.com/office/officeart/2018/2/layout/IconLabelList"/>
    <dgm:cxn modelId="{3D863B88-6B3C-4865-9BEC-E848BA77DF5F}" type="presParOf" srcId="{F2D55FFC-C7FC-4FE9-B203-EEF065D64CAB}" destId="{81AABBE5-7A54-49ED-914A-C3F4739AC5A4}" srcOrd="1" destOrd="0" presId="urn:microsoft.com/office/officeart/2018/2/layout/IconLabelList"/>
    <dgm:cxn modelId="{08B2033C-3B01-41E5-BB66-43348464F4BD}" type="presParOf" srcId="{F2D55FFC-C7FC-4FE9-B203-EEF065D64CAB}" destId="{AD5AEDDD-8083-450E-9DB7-237BE70B70F4}" srcOrd="2" destOrd="0" presId="urn:microsoft.com/office/officeart/2018/2/layout/IconLabelList"/>
    <dgm:cxn modelId="{E2933107-7BD7-4771-AB7F-AFC788B783B1}" type="presParOf" srcId="{423D660F-9F38-4B0B-B802-5C4D1829EC11}" destId="{A3D120B0-CB0A-438C-9721-5580E8FE973A}" srcOrd="5" destOrd="0" presId="urn:microsoft.com/office/officeart/2018/2/layout/IconLabelList"/>
    <dgm:cxn modelId="{D84DCD3B-275F-4F06-BCCC-7F7CABAAEC03}" type="presParOf" srcId="{423D660F-9F38-4B0B-B802-5C4D1829EC11}" destId="{D7AD3A7E-3318-4B1C-B334-98E19737F153}" srcOrd="6" destOrd="0" presId="urn:microsoft.com/office/officeart/2018/2/layout/IconLabelList"/>
    <dgm:cxn modelId="{69847118-6AFE-4E42-BA92-94B2C63A5235}" type="presParOf" srcId="{D7AD3A7E-3318-4B1C-B334-98E19737F153}" destId="{B6C2B8A4-46BB-4871-9014-D7FA32490B97}" srcOrd="0" destOrd="0" presId="urn:microsoft.com/office/officeart/2018/2/layout/IconLabelList"/>
    <dgm:cxn modelId="{D8036BAA-58B1-40CB-B5F9-9D2E02F37280}" type="presParOf" srcId="{D7AD3A7E-3318-4B1C-B334-98E19737F153}" destId="{EC73300E-BC56-414A-A71E-301A2174E573}" srcOrd="1" destOrd="0" presId="urn:microsoft.com/office/officeart/2018/2/layout/IconLabelList"/>
    <dgm:cxn modelId="{5093FD96-C1C3-421D-8E73-0490050AFA82}" type="presParOf" srcId="{D7AD3A7E-3318-4B1C-B334-98E19737F153}" destId="{0A130220-B799-42A8-BF29-13CA8E23FCCD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357F23A-667A-4347-AA7F-FFE360225C42}">
      <dsp:nvSpPr>
        <dsp:cNvPr id="0" name=""/>
        <dsp:cNvSpPr/>
      </dsp:nvSpPr>
      <dsp:spPr>
        <a:xfrm>
          <a:off x="1230386" y="671679"/>
          <a:ext cx="634183" cy="63418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5E26736-EF65-4B40-9273-903B23D014C4}">
      <dsp:nvSpPr>
        <dsp:cNvPr id="0" name=""/>
        <dsp:cNvSpPr/>
      </dsp:nvSpPr>
      <dsp:spPr>
        <a:xfrm>
          <a:off x="641501" y="1373312"/>
          <a:ext cx="1811953" cy="8353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IN" sz="1800" b="1" i="0" kern="1200" dirty="0"/>
            <a:t>Traditional Retail </a:t>
          </a:r>
        </a:p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IN" sz="1800" b="1" i="0" kern="1200" dirty="0"/>
            <a:t>(Pre-1990s)</a:t>
          </a:r>
          <a:r>
            <a:rPr lang="en-IN" sz="1800" b="0" i="0" kern="1200" dirty="0"/>
            <a:t> </a:t>
          </a:r>
          <a:endParaRPr lang="en-US" sz="1800" kern="1200" dirty="0"/>
        </a:p>
      </dsp:txBody>
      <dsp:txXfrm>
        <a:off x="641501" y="1373312"/>
        <a:ext cx="1811953" cy="835312"/>
      </dsp:txXfrm>
    </dsp:sp>
    <dsp:sp modelId="{C35075E3-D22B-44BA-AB97-CD4EAD11E5B7}">
      <dsp:nvSpPr>
        <dsp:cNvPr id="0" name=""/>
        <dsp:cNvSpPr/>
      </dsp:nvSpPr>
      <dsp:spPr>
        <a:xfrm>
          <a:off x="22764" y="2208265"/>
          <a:ext cx="3092406" cy="53327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700" b="0" i="0" kern="1200" dirty="0"/>
            <a:t>Mom-and </a:t>
          </a:r>
          <a:r>
            <a:rPr lang="en-IN" sz="1700" kern="1200" dirty="0"/>
            <a:t>pops store, street market, local bazar</a:t>
          </a:r>
          <a:endParaRPr lang="en-US" sz="1700" kern="1200" dirty="0"/>
        </a:p>
      </dsp:txBody>
      <dsp:txXfrm>
        <a:off x="22764" y="2208265"/>
        <a:ext cx="3092406" cy="533272"/>
      </dsp:txXfrm>
    </dsp:sp>
    <dsp:sp modelId="{55E04BA3-1F5F-4992-826E-541FEF360E62}">
      <dsp:nvSpPr>
        <dsp:cNvPr id="0" name=""/>
        <dsp:cNvSpPr/>
      </dsp:nvSpPr>
      <dsp:spPr>
        <a:xfrm>
          <a:off x="5219437" y="671679"/>
          <a:ext cx="634183" cy="63418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1DFDF60-007D-4458-9D0C-F61F974F9EB4}">
      <dsp:nvSpPr>
        <dsp:cNvPr id="0" name=""/>
        <dsp:cNvSpPr/>
      </dsp:nvSpPr>
      <dsp:spPr>
        <a:xfrm>
          <a:off x="4630552" y="1358753"/>
          <a:ext cx="1811953" cy="86443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IN" sz="1600" b="1" i="0" kern="1200" dirty="0"/>
            <a:t>Modern Retail Formats</a:t>
          </a:r>
        </a:p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IN" sz="1600" b="1" i="0" kern="1200" dirty="0"/>
            <a:t> (1990s-2010s)</a:t>
          </a:r>
          <a:endParaRPr lang="en-US" sz="1600" kern="1200" dirty="0"/>
        </a:p>
      </dsp:txBody>
      <dsp:txXfrm>
        <a:off x="4630552" y="1358753"/>
        <a:ext cx="1811953" cy="864431"/>
      </dsp:txXfrm>
    </dsp:sp>
    <dsp:sp modelId="{834D0E75-B745-4F4E-8728-A088AC514FCD}">
      <dsp:nvSpPr>
        <dsp:cNvPr id="0" name=""/>
        <dsp:cNvSpPr/>
      </dsp:nvSpPr>
      <dsp:spPr>
        <a:xfrm>
          <a:off x="3505229" y="2246672"/>
          <a:ext cx="4251512" cy="53327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700" kern="1200" dirty="0"/>
            <a:t>Big Bazar, Reliance  Retails ,</a:t>
          </a:r>
          <a:r>
            <a:rPr lang="en-IN" sz="1700" i="0" kern="1200" dirty="0"/>
            <a:t> Omnichannel retailing, Membership-based retailers</a:t>
          </a:r>
          <a:r>
            <a:rPr lang="en-IN" sz="1700" b="0" i="0" kern="1200" dirty="0"/>
            <a:t> </a:t>
          </a:r>
          <a:endParaRPr lang="en-US" sz="1700" kern="1200" dirty="0"/>
        </a:p>
      </dsp:txBody>
      <dsp:txXfrm>
        <a:off x="3505229" y="2246672"/>
        <a:ext cx="4251512" cy="533272"/>
      </dsp:txXfrm>
    </dsp:sp>
    <dsp:sp modelId="{282EB7C5-7709-4FC8-AED0-5732B23C7105}">
      <dsp:nvSpPr>
        <dsp:cNvPr id="0" name=""/>
        <dsp:cNvSpPr/>
      </dsp:nvSpPr>
      <dsp:spPr>
        <a:xfrm>
          <a:off x="9022192" y="671679"/>
          <a:ext cx="634183" cy="634183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982DB3D-4A48-46D2-9574-87A04D3E3CB9}">
      <dsp:nvSpPr>
        <dsp:cNvPr id="0" name=""/>
        <dsp:cNvSpPr/>
      </dsp:nvSpPr>
      <dsp:spPr>
        <a:xfrm>
          <a:off x="8433307" y="1373312"/>
          <a:ext cx="1811953" cy="8353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IN" sz="1600" b="1" i="0" kern="1200" dirty="0"/>
            <a:t>E-commerce Boom </a:t>
          </a:r>
        </a:p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IN" sz="1600" b="1" i="0" kern="1200" dirty="0"/>
            <a:t>(2010s-)</a:t>
          </a:r>
          <a:endParaRPr lang="en-US" sz="1600" kern="1200" dirty="0"/>
        </a:p>
      </dsp:txBody>
      <dsp:txXfrm>
        <a:off x="8433307" y="1373312"/>
        <a:ext cx="1811953" cy="835312"/>
      </dsp:txXfrm>
    </dsp:sp>
    <dsp:sp modelId="{A3A8AB76-390C-438B-9A17-E7B8F89CE884}">
      <dsp:nvSpPr>
        <dsp:cNvPr id="0" name=""/>
        <dsp:cNvSpPr/>
      </dsp:nvSpPr>
      <dsp:spPr>
        <a:xfrm>
          <a:off x="7980651" y="2296303"/>
          <a:ext cx="2719814" cy="53327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700" b="0" i="0" kern="1200" dirty="0"/>
            <a:t>Flipkart, Amazon</a:t>
          </a:r>
          <a:r>
            <a:rPr lang="en-IN" sz="1700" kern="1200" dirty="0"/>
            <a:t>,</a:t>
          </a:r>
          <a:r>
            <a:rPr lang="en-IN" sz="1700" b="0" i="0" kern="1200" dirty="0"/>
            <a:t> Paytm Mall</a:t>
          </a:r>
          <a:r>
            <a:rPr lang="en-IN" sz="1700" kern="1200" dirty="0"/>
            <a:t>,</a:t>
          </a:r>
          <a:r>
            <a:rPr lang="en-IN" sz="1700" b="0" i="0" kern="1200" dirty="0"/>
            <a:t> Big Basket</a:t>
          </a:r>
          <a:endParaRPr lang="en-US" sz="1700" kern="1200" dirty="0"/>
        </a:p>
      </dsp:txBody>
      <dsp:txXfrm>
        <a:off x="7980651" y="2296303"/>
        <a:ext cx="2719814" cy="53327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C0856CD-2948-4100-B0D0-C2D4E2FAF8CD}">
      <dsp:nvSpPr>
        <dsp:cNvPr id="0" name=""/>
        <dsp:cNvSpPr/>
      </dsp:nvSpPr>
      <dsp:spPr>
        <a:xfrm>
          <a:off x="788230" y="642879"/>
          <a:ext cx="777568" cy="777568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0B842AF-733A-40BF-8A22-2E45E940B5A7}">
      <dsp:nvSpPr>
        <dsp:cNvPr id="0" name=""/>
        <dsp:cNvSpPr/>
      </dsp:nvSpPr>
      <dsp:spPr>
        <a:xfrm>
          <a:off x="2109" y="1653843"/>
          <a:ext cx="2349811" cy="21049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/>
            <a:t>India's retail sector is a land of opportunity:</a:t>
          </a:r>
        </a:p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100" kern="1200" dirty="0"/>
        </a:p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 Highlight the growth potential due to rising income, booming e-commerce, and increasing tech adoption.</a:t>
          </a:r>
        </a:p>
      </dsp:txBody>
      <dsp:txXfrm>
        <a:off x="2109" y="1653843"/>
        <a:ext cx="2349811" cy="2104981"/>
      </dsp:txXfrm>
    </dsp:sp>
    <dsp:sp modelId="{65AC728B-AAB2-4C5C-A8B7-5A5127616CCC}">
      <dsp:nvSpPr>
        <dsp:cNvPr id="0" name=""/>
        <dsp:cNvSpPr/>
      </dsp:nvSpPr>
      <dsp:spPr>
        <a:xfrm>
          <a:off x="3393292" y="744637"/>
          <a:ext cx="777568" cy="777568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F81CA5F-B5B1-4C7A-838D-36BD7AA74291}">
      <dsp:nvSpPr>
        <dsp:cNvPr id="0" name=""/>
        <dsp:cNvSpPr/>
      </dsp:nvSpPr>
      <dsp:spPr>
        <a:xfrm>
          <a:off x="2664140" y="1791971"/>
          <a:ext cx="2255535" cy="16979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/>
            <a:t>Embrace omnichannel strategies: </a:t>
          </a:r>
        </a:p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100" kern="1200" dirty="0"/>
        </a:p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Emphasize the importance of integrating physical and online stores for a seamless customer experience.</a:t>
          </a:r>
        </a:p>
      </dsp:txBody>
      <dsp:txXfrm>
        <a:off x="2664140" y="1791971"/>
        <a:ext cx="2255535" cy="1697949"/>
      </dsp:txXfrm>
    </dsp:sp>
    <dsp:sp modelId="{0F0D2CF8-8E20-4AB6-A3C0-1E5F3C4912C6}">
      <dsp:nvSpPr>
        <dsp:cNvPr id="0" name=""/>
        <dsp:cNvSpPr/>
      </dsp:nvSpPr>
      <dsp:spPr>
        <a:xfrm>
          <a:off x="6274580" y="744637"/>
          <a:ext cx="777568" cy="777568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D5AEDDD-8083-450E-9DB7-237BE70B70F4}">
      <dsp:nvSpPr>
        <dsp:cNvPr id="0" name=""/>
        <dsp:cNvSpPr/>
      </dsp:nvSpPr>
      <dsp:spPr>
        <a:xfrm>
          <a:off x="5212231" y="1959118"/>
          <a:ext cx="2902265" cy="16979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/>
            <a:t>Challenges require innovation:</a:t>
          </a:r>
        </a:p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 </a:t>
          </a:r>
          <a:r>
            <a:rPr lang="en-US" sz="1400" kern="1200" dirty="0"/>
            <a:t>Acknowledge the competition from unorganized retail, expensive real estate, and a complex supply chain. However, frame it as an opportunity to innovate and improve efficiency.</a:t>
          </a:r>
        </a:p>
      </dsp:txBody>
      <dsp:txXfrm>
        <a:off x="5212231" y="1959118"/>
        <a:ext cx="2902265" cy="1697949"/>
      </dsp:txXfrm>
    </dsp:sp>
    <dsp:sp modelId="{B6C2B8A4-46BB-4871-9014-D7FA32490B97}">
      <dsp:nvSpPr>
        <dsp:cNvPr id="0" name=""/>
        <dsp:cNvSpPr/>
      </dsp:nvSpPr>
      <dsp:spPr>
        <a:xfrm>
          <a:off x="9195619" y="744637"/>
          <a:ext cx="777568" cy="777568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A130220-B799-42A8-BF29-13CA8E23FCCD}">
      <dsp:nvSpPr>
        <dsp:cNvPr id="0" name=""/>
        <dsp:cNvSpPr/>
      </dsp:nvSpPr>
      <dsp:spPr>
        <a:xfrm>
          <a:off x="8416884" y="1959118"/>
          <a:ext cx="2335037" cy="16979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/>
            <a:t>The customer is king: </a:t>
          </a:r>
        </a:p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Reinforce the need to adapt to evolving consumer preferences and buying habits.</a:t>
          </a:r>
        </a:p>
      </dsp:txBody>
      <dsp:txXfrm>
        <a:off x="8416884" y="1959118"/>
        <a:ext cx="2335037" cy="169794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824B6F-C0B8-66FB-8DAA-9E926A1C3C8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CABE225-0A12-D3FB-A6DD-30D574A3CD0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922BCF-509B-DD78-ADC5-DB95FD3012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5DA43F-2280-45FD-B1CE-35123C3A6960}" type="datetimeFigureOut">
              <a:rPr lang="en-IN" smtClean="0"/>
              <a:t>20-07-2024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8FEAB1-AAE7-A1E8-56BA-3D8384B22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09BEDA-7DAA-F8F6-44C3-47682B5F0D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23D36-F828-4498-A196-6807861AC5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349528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CDB6F2-2861-DAEB-64BE-0B2AAB7004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F181BC-4662-77B2-E0EA-35C4572AEF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C10AF9-4698-7A4E-9B3F-052569D108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5DA43F-2280-45FD-B1CE-35123C3A6960}" type="datetimeFigureOut">
              <a:rPr lang="en-IN" smtClean="0"/>
              <a:t>20-07-2024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D77422-83EF-E4B7-855A-CFAA0338A4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F85747-A338-D746-6E5C-3DD13A2871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23D36-F828-4498-A196-6807861AC5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320907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C21C1E-7065-B203-26D8-BA02AB4145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14004F-3FCD-871B-0B33-5407EC690F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A56250-92BE-4ECD-C139-7443D0D202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5DA43F-2280-45FD-B1CE-35123C3A6960}" type="datetimeFigureOut">
              <a:rPr lang="en-IN" smtClean="0"/>
              <a:t>20-07-2024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A13FEB-B15C-B131-7694-F988023602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98CE0E-113E-1A3E-4331-685E9F3820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23D36-F828-4498-A196-6807861AC5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521733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7CE936-6593-88F0-2390-46EA48B489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41B371-F8E1-25B5-A0F8-EB8F8228363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65A8933-2B74-ADB3-0FA1-DEC98C0E0B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F35E61-66F9-3E2E-2406-BEDEAC6969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5DA43F-2280-45FD-B1CE-35123C3A6960}" type="datetimeFigureOut">
              <a:rPr lang="en-IN" smtClean="0"/>
              <a:t>20-07-2024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34F98E9-5F04-AF6D-D861-7DE5D03424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D6D7B4-D3A4-78C8-B474-21592697B8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23D36-F828-4498-A196-6807861AC5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14582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5B771E-29EA-9424-2903-0852C89F9C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74A416-091F-516A-669D-A259AF1D0B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49A3C4F-E450-DE48-0836-B68DF4898E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49468B9-72AE-5CA4-A13E-826A3F30592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4BA9A86-F247-8731-CD34-F74054EDD1C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D38D0D-4BA8-8155-804B-288B8F3129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5DA43F-2280-45FD-B1CE-35123C3A6960}" type="datetimeFigureOut">
              <a:rPr lang="en-IN" smtClean="0"/>
              <a:t>20-07-2024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3AD0BCD-ECC1-D6A2-A61A-5FC5F8263D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732204D-FFDD-4CD2-3C4D-74B067E71B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23D36-F828-4498-A196-6807861AC5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659337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CB9DD7-12D6-22B2-3244-44E43B818D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823FDD3-37A8-CA28-9246-8756DC32F1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5DA43F-2280-45FD-B1CE-35123C3A6960}" type="datetimeFigureOut">
              <a:rPr lang="en-IN" smtClean="0"/>
              <a:t>20-07-2024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711C700-5DA8-D82D-3A61-5BD2D38AC6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3265DC8-7B25-1079-8D56-A18493F211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23D36-F828-4498-A196-6807861AC5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044467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4795EC3-A890-EB53-AC25-32D9ECBDB7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5DA43F-2280-45FD-B1CE-35123C3A6960}" type="datetimeFigureOut">
              <a:rPr lang="en-IN" smtClean="0"/>
              <a:t>20-07-2024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6DE5244-0B86-E221-402C-80C40BCB55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6D0E91-9C9F-F14E-8857-CAAC0693C5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23D36-F828-4498-A196-6807861AC5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635631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6783E9-A281-226B-EBE5-C2D960C10B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2436E4-7F31-850A-C969-28C33791DE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A94AE10-CA84-0847-0305-5F63E39976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68041F-2520-431F-550C-7F18499975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5DA43F-2280-45FD-B1CE-35123C3A6960}" type="datetimeFigureOut">
              <a:rPr lang="en-IN" smtClean="0"/>
              <a:t>20-07-2024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C8AB80-61ED-EFD0-E19B-8B27EF2760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BFFC85-47B9-2DF4-BDDE-1E8C55217F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23D36-F828-4498-A196-6807861AC5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019057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685BF2-1596-F0B2-C8CB-08DD0B7F18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73E5431-A276-E797-5F37-4BA7A9DA6EA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9EC12C-B475-B35E-2916-A17C280FF3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158E7D-B4BF-6301-DD9E-1CB81F1811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5DA43F-2280-45FD-B1CE-35123C3A6960}" type="datetimeFigureOut">
              <a:rPr lang="en-IN" smtClean="0"/>
              <a:t>20-07-2024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387DEA-9F2B-6A2B-6178-3F78CBB86B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1EDD04-2DD4-7B6D-8F01-50DCC3BC7E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23D36-F828-4498-A196-6807861AC5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056436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B20625-397F-0907-7D88-31A58248B9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E5D980B-A260-B7F5-85AC-AC5F84A148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21720D-80DE-49E5-F176-8C2FCCD0B9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5DA43F-2280-45FD-B1CE-35123C3A6960}" type="datetimeFigureOut">
              <a:rPr lang="en-IN" smtClean="0"/>
              <a:t>20-07-2024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2504A3-AD7C-3307-3011-03412EC5B9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1C83A0-33FA-168A-4215-E695737CC1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23D36-F828-4498-A196-6807861AC5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12649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E62D00F-8E1D-75E4-6E5D-812BFF0C985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6ABBBB1-ED31-0AFE-0335-C8057D3990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EFD02D-CEA8-85B7-8885-160C1DC65F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5DA43F-2280-45FD-B1CE-35123C3A6960}" type="datetimeFigureOut">
              <a:rPr lang="en-IN" smtClean="0"/>
              <a:t>20-07-2024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A8084E-AF60-3365-BFD7-F058E9859B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82126B-DDF6-E5C0-16D0-75B9BF4B77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23D36-F828-4498-A196-6807861AC5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205227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B6CAFAA-2537-3074-59CE-25190DBDA4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46C38A-BBCD-B6F5-A6B8-3E8C8D52AA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C8E65B-3264-836C-DA0B-56A42F5A354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65DA43F-2280-45FD-B1CE-35123C3A6960}" type="datetimeFigureOut">
              <a:rPr lang="en-IN" smtClean="0"/>
              <a:t>20-07-2024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0F8314-3303-0537-4F6F-9092055921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EC0022-0C3A-C699-BC2F-C19228A6F62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8823D36-F828-4498-A196-6807861AC5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391028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6" r:id="rId1"/>
    <p:sldLayoutId id="2147483767" r:id="rId2"/>
    <p:sldLayoutId id="2147483768" r:id="rId3"/>
    <p:sldLayoutId id="2147483769" r:id="rId4"/>
    <p:sldLayoutId id="2147483770" r:id="rId5"/>
    <p:sldLayoutId id="2147483771" r:id="rId6"/>
    <p:sldLayoutId id="2147483772" r:id="rId7"/>
    <p:sldLayoutId id="2147483773" r:id="rId8"/>
    <p:sldLayoutId id="2147483774" r:id="rId9"/>
    <p:sldLayoutId id="2147483775" r:id="rId10"/>
    <p:sldLayoutId id="2147483776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hyperlink" Target="https://www.linkedin.com/pulse/evolution-retail-india-globallaunchbase/" TargetMode="Externa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hyperlink" Target="https://www.ibef.org/industry/indian-retail-industry-analysis-presentation" TargetMode="Externa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hyperlink" Target="https://www.ibef.org/industry/indian-retail-industry-analysis-presentation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10" Type="http://schemas.openxmlformats.org/officeDocument/2006/relationships/image" Target="../media/image23.png"/><Relationship Id="rId4" Type="http://schemas.openxmlformats.org/officeDocument/2006/relationships/image" Target="../media/image17.png"/><Relationship Id="rId9" Type="http://schemas.openxmlformats.org/officeDocument/2006/relationships/image" Target="../media/image2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7D584B-3C6F-148E-1BA4-756C059727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95679" y="1179146"/>
            <a:ext cx="4299666" cy="2411067"/>
          </a:xfrm>
        </p:spPr>
        <p:txBody>
          <a:bodyPr>
            <a:normAutofit fontScale="90000"/>
          </a:bodyPr>
          <a:lstStyle/>
          <a:p>
            <a:pPr algn="l"/>
            <a:r>
              <a:rPr lang="en-US" dirty="0"/>
              <a:t>Evolution of Indian Retail business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B91730A-6B39-069F-D335-9CB84FE263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974336" y="3836020"/>
            <a:ext cx="4299666" cy="871042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en-US" dirty="0"/>
              <a:t>SWOT Analysis from Mom-and-Pop Stores to E-Commerce Giants"</a:t>
            </a:r>
            <a:endParaRPr lang="en-IN" dirty="0"/>
          </a:p>
        </p:txBody>
      </p:sp>
      <p:pic>
        <p:nvPicPr>
          <p:cNvPr id="7" name="Graphic 6" descr="Shopping cart">
            <a:extLst>
              <a:ext uri="{FF2B5EF4-FFF2-40B4-BE49-F238E27FC236}">
                <a16:creationId xmlns:a16="http://schemas.microsoft.com/office/drawing/2014/main" id="{6C3E0307-564B-5DCF-E0AE-0CC4C9F5994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45771" y="1179146"/>
            <a:ext cx="3765692" cy="376569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BCAAE0F-5763-9488-2DBE-9255A2CB246F}"/>
              </a:ext>
            </a:extLst>
          </p:cNvPr>
          <p:cNvSpPr txBox="1"/>
          <p:nvPr/>
        </p:nvSpPr>
        <p:spPr>
          <a:xfrm>
            <a:off x="8838413" y="5678854"/>
            <a:ext cx="37656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Presented by : Amit kumar</a:t>
            </a:r>
          </a:p>
          <a:p>
            <a:r>
              <a:rPr lang="en-US" dirty="0"/>
              <a:t>Roll Number :21f3002445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211914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93278E-AF52-BE5C-11DD-4B34F560A3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966" y="217324"/>
            <a:ext cx="10197494" cy="1099457"/>
          </a:xfrm>
        </p:spPr>
        <p:txBody>
          <a:bodyPr>
            <a:normAutofit/>
          </a:bodyPr>
          <a:lstStyle/>
          <a:p>
            <a:r>
              <a:rPr lang="en-US" sz="4000" dirty="0"/>
              <a:t>Retail business in India</a:t>
            </a:r>
            <a:endParaRPr lang="en-IN" sz="4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615AA63-4916-B7CD-5F77-E7C6F7AD6E91}"/>
              </a:ext>
            </a:extLst>
          </p:cNvPr>
          <p:cNvSpPr txBox="1"/>
          <p:nvPr/>
        </p:nvSpPr>
        <p:spPr>
          <a:xfrm>
            <a:off x="586966" y="1316781"/>
            <a:ext cx="10700465" cy="1354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defTabSz="402336">
              <a:spcAft>
                <a:spcPts val="600"/>
              </a:spcAft>
            </a:pPr>
            <a:r>
              <a:rPr lang="en-US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Business involved in the sale of </a:t>
            </a:r>
            <a:r>
              <a:rPr lang="en-US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goods </a:t>
            </a:r>
            <a:r>
              <a:rPr lang="en-US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 </a:t>
            </a:r>
            <a:r>
              <a:rPr lang="en-US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services</a:t>
            </a:r>
            <a:r>
              <a:rPr lang="en-US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directly to consumers for personal, </a:t>
            </a:r>
            <a:r>
              <a:rPr lang="en-US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non-business use</a:t>
            </a:r>
            <a:r>
              <a:rPr lang="en-US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 </a:t>
            </a:r>
          </a:p>
          <a:p>
            <a:pPr algn="just" defTabSz="402336">
              <a:spcAft>
                <a:spcPts val="600"/>
              </a:spcAft>
            </a:pPr>
            <a:r>
              <a:rPr lang="en-US" dirty="0"/>
              <a:t>Contribution of retail industry  to GDP is 10%</a:t>
            </a:r>
          </a:p>
          <a:p>
            <a:pPr algn="just" defTabSz="402336">
              <a:spcAft>
                <a:spcPts val="600"/>
              </a:spcAft>
            </a:pPr>
            <a:endParaRPr lang="en-US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DB67344-134C-39FF-72EB-CC22F9B1A274}"/>
              </a:ext>
            </a:extLst>
          </p:cNvPr>
          <p:cNvSpPr txBox="1"/>
          <p:nvPr/>
        </p:nvSpPr>
        <p:spPr>
          <a:xfrm>
            <a:off x="1929068" y="5865187"/>
            <a:ext cx="80162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02336">
              <a:spcAft>
                <a:spcPts val="600"/>
              </a:spcAft>
            </a:pPr>
            <a:r>
              <a: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Source : -</a:t>
            </a:r>
            <a:r>
              <a: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hlinkClick r:id="rId2"/>
              </a:rPr>
              <a:t>https://www.linkedin.com/pulse/evolution-retail-india-globallaunchbase/</a:t>
            </a:r>
            <a:endParaRPr lang="en-IN" sz="1600" dirty="0"/>
          </a:p>
        </p:txBody>
      </p:sp>
      <p:graphicFrame>
        <p:nvGraphicFramePr>
          <p:cNvPr id="20" name="TextBox 4">
            <a:extLst>
              <a:ext uri="{FF2B5EF4-FFF2-40B4-BE49-F238E27FC236}">
                <a16:creationId xmlns:a16="http://schemas.microsoft.com/office/drawing/2014/main" id="{605D5AA4-D77A-AE09-C76C-234C8A4924A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07329404"/>
              </p:ext>
            </p:extLst>
          </p:nvPr>
        </p:nvGraphicFramePr>
        <p:xfrm>
          <a:off x="586966" y="2286717"/>
          <a:ext cx="10700466" cy="317844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3977923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955A2079-FA98-4876-80F0-72364A7D2E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Content Placeholder 7">
            <a:extLst>
              <a:ext uri="{FF2B5EF4-FFF2-40B4-BE49-F238E27FC236}">
                <a16:creationId xmlns:a16="http://schemas.microsoft.com/office/drawing/2014/main" id="{B722DE20-A80C-B411-0674-244EE9E06A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9207" y="164153"/>
            <a:ext cx="3424084" cy="76033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Strength</a:t>
            </a:r>
            <a:endParaRPr lang="en-US" sz="5200" b="1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8B5A2CE-B444-BA11-FF53-E8F2832596F9}"/>
              </a:ext>
            </a:extLst>
          </p:cNvPr>
          <p:cNvSpPr txBox="1"/>
          <p:nvPr/>
        </p:nvSpPr>
        <p:spPr>
          <a:xfrm>
            <a:off x="1563330" y="5882262"/>
            <a:ext cx="87605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/>
              <a:t>Source:-</a:t>
            </a:r>
            <a:r>
              <a:rPr lang="en-IN" sz="1400" dirty="0">
                <a:hlinkClick r:id="rId2"/>
              </a:rPr>
              <a:t>https://www.ibef.org/industry/indian-retail-industry-analysis-presentation</a:t>
            </a:r>
            <a:endParaRPr lang="en-IN" sz="1400" dirty="0"/>
          </a:p>
        </p:txBody>
      </p:sp>
      <p:sp>
        <p:nvSpPr>
          <p:cNvPr id="9" name="Content Placeholder 7">
            <a:extLst>
              <a:ext uri="{FF2B5EF4-FFF2-40B4-BE49-F238E27FC236}">
                <a16:creationId xmlns:a16="http://schemas.microsoft.com/office/drawing/2014/main" id="{42F4B734-3D84-FDCC-22FF-457C537D532C}"/>
              </a:ext>
            </a:extLst>
          </p:cNvPr>
          <p:cNvSpPr txBox="1">
            <a:spLocks/>
          </p:cNvSpPr>
          <p:nvPr/>
        </p:nvSpPr>
        <p:spPr>
          <a:xfrm>
            <a:off x="6479481" y="164153"/>
            <a:ext cx="3424084" cy="7603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600" b="1" dirty="0"/>
              <a:t>Weakness</a:t>
            </a:r>
            <a:endParaRPr lang="en-US" sz="52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2797019-A787-D04C-11B4-B5331023D65C}"/>
              </a:ext>
            </a:extLst>
          </p:cNvPr>
          <p:cNvSpPr txBox="1"/>
          <p:nvPr/>
        </p:nvSpPr>
        <p:spPr>
          <a:xfrm>
            <a:off x="639120" y="1449575"/>
            <a:ext cx="5532591" cy="3293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sz="1600" b="1" i="0" dirty="0">
                <a:solidFill>
                  <a:srgbClr val="222222"/>
                </a:solidFill>
                <a:effectLst/>
                <a:highlight>
                  <a:srgbClr val="FFFFFF"/>
                </a:highlight>
              </a:rPr>
              <a:t>Purchasing Power:   </a:t>
            </a:r>
            <a:r>
              <a:rPr lang="en-US" sz="1600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</a:rPr>
              <a:t>470 million people in the emerging middle class. They have capability to buy various type of product.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1600" b="0" i="0" dirty="0">
              <a:solidFill>
                <a:srgbClr val="222222"/>
              </a:solidFill>
              <a:effectLst/>
              <a:highlight>
                <a:srgbClr val="FFFFFF"/>
              </a:highlight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sz="1600" b="1" i="0" dirty="0">
                <a:solidFill>
                  <a:srgbClr val="222222"/>
                </a:solidFill>
                <a:effectLst/>
                <a:highlight>
                  <a:srgbClr val="FFFFFF"/>
                </a:highlight>
              </a:rPr>
              <a:t>Population Demographics: </a:t>
            </a:r>
            <a:r>
              <a:rPr lang="en-US" sz="1600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</a:rPr>
              <a:t>working population is expected to be 117 million 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1600" dirty="0">
              <a:solidFill>
                <a:srgbClr val="222222"/>
              </a:solidFill>
              <a:highlight>
                <a:srgbClr val="FFFFFF"/>
              </a:highlight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sz="1600" b="1" i="0" dirty="0">
                <a:solidFill>
                  <a:srgbClr val="222222"/>
                </a:solidFill>
                <a:effectLst/>
                <a:highlight>
                  <a:srgbClr val="FFFFFF"/>
                </a:highlight>
              </a:rPr>
              <a:t>Low Retail Penetration: </a:t>
            </a:r>
            <a:r>
              <a:rPr lang="en-US" sz="1600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</a:rPr>
              <a:t>in India is still very low at 6 to 8%, especially when compared to developed nations such as the US and the UK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1600" b="0" i="0" dirty="0">
              <a:solidFill>
                <a:srgbClr val="222222"/>
              </a:solidFill>
              <a:effectLst/>
              <a:highlight>
                <a:srgbClr val="FFFFFF"/>
              </a:highlight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b="1" dirty="0"/>
              <a:t>Digital Revolution:     </a:t>
            </a:r>
            <a:r>
              <a:rPr lang="en-US" sz="1600" dirty="0"/>
              <a:t>900 million internet users by 2024.                     </a:t>
            </a:r>
          </a:p>
          <a:p>
            <a:pPr algn="just"/>
            <a:endParaRPr lang="en-IN" sz="16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BC24CA2-36FC-02F4-B0D3-F8CFCF2E0783}"/>
              </a:ext>
            </a:extLst>
          </p:cNvPr>
          <p:cNvSpPr txBox="1"/>
          <p:nvPr/>
        </p:nvSpPr>
        <p:spPr>
          <a:xfrm>
            <a:off x="6749869" y="1449575"/>
            <a:ext cx="5388901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sz="1600" b="1" dirty="0"/>
              <a:t>Infrastructure Challenges: </a:t>
            </a:r>
            <a:r>
              <a:rPr lang="en-US" sz="1600" b="0" dirty="0"/>
              <a:t>logistics costs are approximately 13-14% of GDP, compared to 8-9% in developed countries  </a:t>
            </a:r>
          </a:p>
          <a:p>
            <a:pPr algn="just"/>
            <a:r>
              <a:rPr lang="en-US" sz="1600" b="0" dirty="0"/>
              <a:t>  </a:t>
            </a:r>
            <a:endParaRPr lang="en-IN" sz="1600" b="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sz="1600" b="1" dirty="0"/>
              <a:t>Limited Use of Technology:</a:t>
            </a:r>
            <a:r>
              <a:rPr lang="en-IN" sz="1600" b="0" dirty="0"/>
              <a:t> 4-5% of small retailers uses POS system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IN" sz="1600" b="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sz="1600" b="1" dirty="0"/>
              <a:t>Large number of unorganised business:</a:t>
            </a:r>
            <a:r>
              <a:rPr lang="en-IN" sz="1600" b="0" dirty="0"/>
              <a:t> </a:t>
            </a:r>
            <a:r>
              <a:rPr lang="en-US" sz="1600" b="0" dirty="0"/>
              <a:t>88% of the total retail market</a:t>
            </a:r>
          </a:p>
          <a:p>
            <a:pPr algn="just"/>
            <a:endParaRPr lang="en-IN" sz="1600" b="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sz="1600" b="1" dirty="0"/>
              <a:t>High Real Estate Costs: </a:t>
            </a:r>
            <a:r>
              <a:rPr lang="en-US" sz="1600" dirty="0"/>
              <a:t>Renting or purchasing retail space in prime locations can be expensive, impacting profitability</a:t>
            </a:r>
            <a:endParaRPr lang="en-IN" sz="1600" b="1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IN" sz="1600" b="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IN" sz="16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D34A34F-C3A3-6886-4644-61D85ADC44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155" y="1429746"/>
            <a:ext cx="514965" cy="45365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BE3AF03-2E97-4540-870E-7A8FCE70B87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8344" y="2210451"/>
            <a:ext cx="430776" cy="40543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C5C9F562-CEB8-6FF2-ADE4-117A60E6558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004" y="2942933"/>
            <a:ext cx="519457" cy="441837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FCB9E048-B24D-D633-1372-6E1C2B19366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2" y="3818178"/>
            <a:ext cx="597771" cy="511388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9BBCE42A-3045-D61F-EAC1-1F37A61ABF9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94456" y="1429746"/>
            <a:ext cx="540775" cy="398985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69DABE0A-AD57-88FF-EBDB-A7E6C5C1EDD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09094" y="2319256"/>
            <a:ext cx="593262" cy="593262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68800AA8-375F-FD5B-94B1-B2F4F1AACF7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23930" y="3876478"/>
            <a:ext cx="457224" cy="3947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32533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F7046A-3729-CF24-5F93-AC4BD0F9B0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7920" y="177446"/>
            <a:ext cx="3729076" cy="1041351"/>
          </a:xfrm>
        </p:spPr>
        <p:txBody>
          <a:bodyPr anchor="ctr">
            <a:normAutofit/>
          </a:bodyPr>
          <a:lstStyle/>
          <a:p>
            <a:r>
              <a:rPr lang="en-US" sz="3600" b="1" dirty="0"/>
              <a:t>Opportunity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419A96-02B9-1C22-4BD5-A15969C663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4344" y="1569961"/>
            <a:ext cx="5587669" cy="3614296"/>
          </a:xfrm>
          <a:ln>
            <a:solidFill>
              <a:schemeClr val="bg1"/>
            </a:solidFill>
          </a:ln>
        </p:spPr>
        <p:txBody>
          <a:bodyPr>
            <a:norm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b="1" dirty="0"/>
              <a:t>Omnichannel Strategies</a:t>
            </a:r>
            <a:r>
              <a:rPr lang="en-US" sz="1600" dirty="0"/>
              <a:t>: Integration of online and offline channels for seamless customer experiences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1600" dirty="0"/>
          </a:p>
          <a:p>
            <a:pPr algn="just"/>
            <a:r>
              <a:rPr lang="en-US" sz="1600" b="1" dirty="0"/>
              <a:t>E-commerce Growth:  </a:t>
            </a:r>
            <a:r>
              <a:rPr lang="en-US" sz="1600" dirty="0"/>
              <a:t>Online shopping is rapidly growing in India, offering retailers new ways to reach customers.</a:t>
            </a:r>
          </a:p>
          <a:p>
            <a:pPr algn="just"/>
            <a:endParaRPr lang="en-US" sz="1600" b="1" dirty="0"/>
          </a:p>
          <a:p>
            <a:pPr algn="just"/>
            <a:r>
              <a:rPr lang="en-US" sz="1600" b="1" dirty="0"/>
              <a:t>Tier 2 and Tier 3 Cities: </a:t>
            </a:r>
            <a:r>
              <a:rPr lang="en-US" sz="1600" dirty="0"/>
              <a:t>These cities have a large, untapped consumer base that retailers can target.</a:t>
            </a:r>
          </a:p>
          <a:p>
            <a:pPr algn="just"/>
            <a:endParaRPr lang="en-US" sz="1600" b="1" dirty="0"/>
          </a:p>
          <a:p>
            <a:pPr algn="just"/>
            <a:r>
              <a:rPr lang="en-US" sz="1600" b="1" dirty="0"/>
              <a:t>Technology adoption: </a:t>
            </a:r>
            <a:r>
              <a:rPr lang="en-US" sz="1600" dirty="0"/>
              <a:t>Technologies like AR/VR, AI, and data analytics can improve customer service, supply chain management, and marketing.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D24A268-79CD-7D90-64EC-EA944FD69310}"/>
              </a:ext>
            </a:extLst>
          </p:cNvPr>
          <p:cNvSpPr txBox="1"/>
          <p:nvPr/>
        </p:nvSpPr>
        <p:spPr>
          <a:xfrm>
            <a:off x="7109686" y="1428136"/>
            <a:ext cx="4942847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42950" lvl="1" indent="-285750" algn="just">
              <a:buFont typeface="Arial" panose="020B0604020202020204" pitchFamily="34" charset="0"/>
              <a:buChar char="•"/>
            </a:pPr>
            <a:endParaRPr lang="en-IN" sz="1600" b="1" dirty="0"/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US" sz="1600" b="1" dirty="0"/>
              <a:t>Competition from unorganized sector: </a:t>
            </a:r>
            <a:r>
              <a:rPr lang="en-US" sz="1600" dirty="0"/>
              <a:t>Traditional small stores and vendors still dominate the market.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US" sz="1600" b="1" dirty="0"/>
              <a:t>Economic Uncertainty: </a:t>
            </a:r>
            <a:r>
              <a:rPr lang="en-US" sz="1600" dirty="0"/>
              <a:t>Unpredictable nature of the economic environment, which can impact consumer behavior, business operations, and overall market conditions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endParaRPr lang="en-US" sz="1600" b="1" dirty="0"/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sz="1600" b="1" dirty="0"/>
              <a:t>Changing Consumer Preferences: </a:t>
            </a:r>
            <a:r>
              <a:rPr lang="en-IN" sz="1600" dirty="0"/>
              <a:t>India is price sensitive market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endParaRPr lang="en-IN" sz="1600" dirty="0"/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sz="1600" b="1" dirty="0"/>
              <a:t>Regulatory Changes: </a:t>
            </a:r>
            <a:r>
              <a:rPr lang="en-US" sz="1600" dirty="0"/>
              <a:t>Navigating complex regulations and compliance requirements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IN" sz="16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0A40B72-46BE-0281-D092-77C528E35AC5}"/>
              </a:ext>
            </a:extLst>
          </p:cNvPr>
          <p:cNvSpPr txBox="1"/>
          <p:nvPr/>
        </p:nvSpPr>
        <p:spPr>
          <a:xfrm>
            <a:off x="6533016" y="247703"/>
            <a:ext cx="41000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latin typeface="+mj-lt"/>
              </a:rPr>
              <a:t>Threat</a:t>
            </a:r>
            <a:endParaRPr lang="en-IN" sz="2400" b="1" dirty="0">
              <a:latin typeface="+mj-lt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7BF9DAB-91A1-7E5B-C0E5-435CB26E2E50}"/>
              </a:ext>
            </a:extLst>
          </p:cNvPr>
          <p:cNvSpPr txBox="1"/>
          <p:nvPr/>
        </p:nvSpPr>
        <p:spPr>
          <a:xfrm>
            <a:off x="1708178" y="5910825"/>
            <a:ext cx="859866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+mj-lt"/>
              </a:rPr>
              <a:t>More details :- </a:t>
            </a:r>
            <a:r>
              <a:rPr lang="en-US" sz="1600" dirty="0">
                <a:latin typeface="+mj-lt"/>
                <a:hlinkClick r:id="rId2"/>
              </a:rPr>
              <a:t>https://www.ibef.org/industry/indian-retail-industry-analysis-presentation</a:t>
            </a:r>
            <a:endParaRPr lang="en-US" sz="1600" dirty="0">
              <a:latin typeface="+mj-lt"/>
            </a:endParaRPr>
          </a:p>
        </p:txBody>
      </p:sp>
      <p:pic>
        <p:nvPicPr>
          <p:cNvPr id="1029" name="Picture 5" descr="580+ Omnichannel Marketing Stock ...">
            <a:extLst>
              <a:ext uri="{FF2B5EF4-FFF2-40B4-BE49-F238E27FC236}">
                <a16:creationId xmlns:a16="http://schemas.microsoft.com/office/drawing/2014/main" id="{6A61907B-DAFF-BBB3-EE36-91DC82E6EB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886" y="1415043"/>
            <a:ext cx="777988" cy="7779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2F6A5DF-B34C-069F-AFF0-D2E97F0EDF3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2415393"/>
            <a:ext cx="777988" cy="45826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CC4631C-B497-84EE-B5A2-96F5E268F40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5657" y="3377109"/>
            <a:ext cx="512218" cy="51221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8F575C5C-E9E2-0E79-F74B-3FAAE05D9DD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309" y="4202181"/>
            <a:ext cx="643597" cy="68808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37BB89C-F206-97F4-857B-4968F02F61B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53655" y="2452600"/>
            <a:ext cx="614205" cy="614205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BE04EC0B-00A1-ABF3-2CEF-886341BCCF8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33016" y="3574906"/>
            <a:ext cx="662930" cy="66293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49387CB5-4825-9B3F-966C-2A91422451C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53655" y="4341781"/>
            <a:ext cx="632785" cy="629973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96F6073C-C146-08D3-350D-E7999CCEAE62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300677" y="1586652"/>
            <a:ext cx="866856" cy="6493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33171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955A2079-FA98-4876-80F0-72364A7D2E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302822A-3248-F286-4436-6FBCFD678B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6995"/>
            <a:ext cx="10515600" cy="1133693"/>
          </a:xfrm>
        </p:spPr>
        <p:txBody>
          <a:bodyPr>
            <a:normAutofit/>
          </a:bodyPr>
          <a:lstStyle/>
          <a:p>
            <a:pPr algn="ctr"/>
            <a:r>
              <a:rPr lang="en-US" sz="5200" dirty="0"/>
              <a:t>Conclusion and Recommendation</a:t>
            </a:r>
            <a:endParaRPr lang="en-IN" sz="5200" dirty="0"/>
          </a:p>
        </p:txBody>
      </p:sp>
      <p:graphicFrame>
        <p:nvGraphicFramePr>
          <p:cNvPr id="7" name="Rectangle 2">
            <a:extLst>
              <a:ext uri="{FF2B5EF4-FFF2-40B4-BE49-F238E27FC236}">
                <a16:creationId xmlns:a16="http://schemas.microsoft.com/office/drawing/2014/main" id="{2809387B-A45A-D824-B9A6-DF1822CF34B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80950555"/>
              </p:ext>
            </p:extLst>
          </p:nvPr>
        </p:nvGraphicFramePr>
        <p:xfrm>
          <a:off x="838200" y="1779639"/>
          <a:ext cx="10754032" cy="44017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5360953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657F69E0-C4B0-4BEC-A689-4F8D877F05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n arrow pointing right">
            <a:extLst>
              <a:ext uri="{FF2B5EF4-FFF2-40B4-BE49-F238E27FC236}">
                <a16:creationId xmlns:a16="http://schemas.microsoft.com/office/drawing/2014/main" id="{AE336866-5948-CE85-A088-CD3B62D6C9AD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</a:blip>
          <a:srcRect t="15073" r="-1" b="-1"/>
          <a:stretch/>
        </p:blipFill>
        <p:spPr>
          <a:xfrm>
            <a:off x="20" y="10"/>
            <a:ext cx="1218893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AD797E3-49B3-D079-28CA-6F78B9D503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1122363"/>
            <a:ext cx="9144000" cy="306324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100" dirty="0">
                <a:solidFill>
                  <a:schemeClr val="bg1"/>
                </a:solidFill>
              </a:rPr>
              <a:t>Thankyou</a:t>
            </a:r>
            <a:br>
              <a:rPr lang="en-US" sz="5100" dirty="0">
                <a:solidFill>
                  <a:schemeClr val="bg1"/>
                </a:solidFill>
              </a:rPr>
            </a:br>
            <a:r>
              <a:rPr lang="en-US" sz="5100" dirty="0">
                <a:solidFill>
                  <a:schemeClr val="bg1"/>
                </a:solidFill>
              </a:rPr>
              <a:t>for Listening</a:t>
            </a:r>
            <a:br>
              <a:rPr lang="en-US" sz="5100" dirty="0">
                <a:solidFill>
                  <a:schemeClr val="bg1"/>
                </a:solidFill>
              </a:rPr>
            </a:br>
            <a:r>
              <a:rPr lang="en-US" sz="5100" dirty="0">
                <a:solidFill>
                  <a:schemeClr val="bg1"/>
                </a:solidFill>
              </a:rPr>
              <a:t>Ask Question</a:t>
            </a:r>
            <a:br>
              <a:rPr lang="en-US" sz="5100" dirty="0">
                <a:solidFill>
                  <a:schemeClr val="bg1"/>
                </a:solidFill>
              </a:rPr>
            </a:br>
            <a:r>
              <a:rPr lang="en-US" sz="5100" dirty="0">
                <a:solidFill>
                  <a:schemeClr val="bg1"/>
                </a:solidFill>
              </a:rPr>
              <a:t> </a:t>
            </a:r>
          </a:p>
        </p:txBody>
      </p:sp>
      <p:sp>
        <p:nvSpPr>
          <p:cNvPr id="18" name="sketchy line">
            <a:extLst>
              <a:ext uri="{FF2B5EF4-FFF2-40B4-BE49-F238E27FC236}">
                <a16:creationId xmlns:a16="http://schemas.microsoft.com/office/drawing/2014/main" id="{9F6380B4-6A1C-481E-8408-B4E6C75B9B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74206" y="4368623"/>
            <a:ext cx="4243589" cy="18288"/>
          </a:xfrm>
          <a:custGeom>
            <a:avLst/>
            <a:gdLst>
              <a:gd name="connsiteX0" fmla="*/ 0 w 4243589"/>
              <a:gd name="connsiteY0" fmla="*/ 0 h 18288"/>
              <a:gd name="connsiteX1" fmla="*/ 478919 w 4243589"/>
              <a:gd name="connsiteY1" fmla="*/ 0 h 18288"/>
              <a:gd name="connsiteX2" fmla="*/ 957839 w 4243589"/>
              <a:gd name="connsiteY2" fmla="*/ 0 h 18288"/>
              <a:gd name="connsiteX3" fmla="*/ 1521630 w 4243589"/>
              <a:gd name="connsiteY3" fmla="*/ 0 h 18288"/>
              <a:gd name="connsiteX4" fmla="*/ 2212729 w 4243589"/>
              <a:gd name="connsiteY4" fmla="*/ 0 h 18288"/>
              <a:gd name="connsiteX5" fmla="*/ 2734084 w 4243589"/>
              <a:gd name="connsiteY5" fmla="*/ 0 h 18288"/>
              <a:gd name="connsiteX6" fmla="*/ 3255439 w 4243589"/>
              <a:gd name="connsiteY6" fmla="*/ 0 h 18288"/>
              <a:gd name="connsiteX7" fmla="*/ 4243589 w 4243589"/>
              <a:gd name="connsiteY7" fmla="*/ 0 h 18288"/>
              <a:gd name="connsiteX8" fmla="*/ 4243589 w 4243589"/>
              <a:gd name="connsiteY8" fmla="*/ 18288 h 18288"/>
              <a:gd name="connsiteX9" fmla="*/ 3594926 w 4243589"/>
              <a:gd name="connsiteY9" fmla="*/ 18288 h 18288"/>
              <a:gd name="connsiteX10" fmla="*/ 3073571 w 4243589"/>
              <a:gd name="connsiteY10" fmla="*/ 18288 h 18288"/>
              <a:gd name="connsiteX11" fmla="*/ 2552216 w 4243589"/>
              <a:gd name="connsiteY11" fmla="*/ 18288 h 18288"/>
              <a:gd name="connsiteX12" fmla="*/ 1903553 w 4243589"/>
              <a:gd name="connsiteY12" fmla="*/ 18288 h 18288"/>
              <a:gd name="connsiteX13" fmla="*/ 1212454 w 4243589"/>
              <a:gd name="connsiteY13" fmla="*/ 18288 h 18288"/>
              <a:gd name="connsiteX14" fmla="*/ 733535 w 4243589"/>
              <a:gd name="connsiteY14" fmla="*/ 18288 h 18288"/>
              <a:gd name="connsiteX15" fmla="*/ 0 w 4243589"/>
              <a:gd name="connsiteY15" fmla="*/ 18288 h 18288"/>
              <a:gd name="connsiteX16" fmla="*/ 0 w 4243589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rgbClr val="FFFFFF">
              <a:alpha val="75000"/>
            </a:srgbClr>
          </a:solidFill>
          <a:ln w="44450" cap="rnd">
            <a:solidFill>
              <a:schemeClr val="bg1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04817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548</TotalTime>
  <Words>530</Words>
  <Application>Microsoft Office PowerPoint</Application>
  <PresentationFormat>Widescreen</PresentationFormat>
  <Paragraphs>64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Evolution of Indian Retail business</vt:lpstr>
      <vt:lpstr>Retail business in India</vt:lpstr>
      <vt:lpstr>Strength</vt:lpstr>
      <vt:lpstr>Opportunity</vt:lpstr>
      <vt:lpstr>Conclusion and Recommendation</vt:lpstr>
      <vt:lpstr>Thankyou for Listening Ask Question 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amit kumar</dc:creator>
  <cp:lastModifiedBy>amit kumar</cp:lastModifiedBy>
  <cp:revision>12</cp:revision>
  <dcterms:created xsi:type="dcterms:W3CDTF">2024-07-15T16:40:38Z</dcterms:created>
  <dcterms:modified xsi:type="dcterms:W3CDTF">2024-07-20T10:06:26Z</dcterms:modified>
</cp:coreProperties>
</file>